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62"/>
    <p:restoredTop sz="94610"/>
  </p:normalViewPr>
  <p:slideViewPr>
    <p:cSldViewPr snapToGrid="0" snapToObjects="1">
      <p:cViewPr varScale="1">
        <p:scale>
          <a:sx n="206" d="100"/>
          <a:sy n="206" d="100"/>
        </p:scale>
        <p:origin x="4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2817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Buenas, somos David, Andrea y Cristina. Nuestro proyecto se llama ReForest: una aplicación web para donar y plantar árboles.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ReForest conecta a donantes con un catálogo de especies arbóreas gestionado por administradores. Los usuarios eligen una especie, hacen su donación, y el administrador gestiona todo el ciclo.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En el frontend usamos React 19 con TypeScript. En el backend, Java 21 con Spring Boot. La comunicación es una API REST con autenticación JWT y la configuración está centralizada con Spring Cloud Config.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La aplicación está desplegada en AWS. Usamos Docker Compose para orquestar los contenedores, y GitHub Actions ejecuta los tests automáticamente en cada Pull Request con Newman.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Tenemos tres entidades: Usuario, Especie y Donacion. Una donación pertenece a un usuario y a una especie. Los borrados son lógicos: activo en Usuario, disponible en Especie.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Al hacer login el servidor emite un JWT. El cliente lo envía en cada petición. El servidor lo valida sin guardar sesión, por eso es stateless. Las contraseñas se guardan hasheadas con BCrypt, nunca en texto plano.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Tenemos CRUD completo para las tres entidades, documentado con OpenAPI. Los errores están centralizados en un ControllerAdvice que devuelve códigos estándar: 400 para validación, 401 sin token, 403 sin permiso, 404 si no existe.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Cubrimos los flujos críticos con JUnit 5 y MockMvc. La colección de Postman se ejecuta automáticamente en cada PR mediante Newman en GitHub Actions. Todo el código pasa por Pull Request revisado antes de llegar a develop.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El dashboard cambia según el rol. El administrador ve todas las donaciones del sistema con métricas globales. El usuario solo ve las suyas. La tabla permite filtrar por estado, buscar por nombre, seleccionar rango de fechas y ordenar por columnas.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Completamos los 5 obligatorios y 6 opcionales: despliegue en AWS, Docker, colección Postman, OpenAPI, internacionalización en español e inglés, y Testing II con dos clases del modelo.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0F"/>
        </a:solidFill>
        <a:effectLst/>
      </p:bgPr>
    </p:bg>
    <p:spTree>
      <p:nvGrpSpPr>
        <p:cNvPr id="1" name=""/>
        <p:cNvGrpSpPr/>
        <p:nvPr/>
      </p:nvGrpSpPr>
      <p:grpSpPr>
        <a:xfrm>
          <a:off x="0" y="0"/>
          <a:ext cx="0" cy="0"/>
          <a:chOff x="0" y="0"/>
          <a:chExt cx="0" cy="0"/>
        </a:xfrm>
      </p:grpSpPr>
      <p:sp>
        <p:nvSpPr>
          <p:cNvPr id="2" name="Shape 0"/>
          <p:cNvSpPr/>
          <p:nvPr/>
        </p:nvSpPr>
        <p:spPr>
          <a:xfrm>
            <a:off x="0" y="0"/>
            <a:ext cx="5303520" cy="5143500"/>
          </a:xfrm>
          <a:prstGeom prst="rect">
            <a:avLst/>
          </a:prstGeom>
          <a:solidFill>
            <a:srgbClr val="1A3320"/>
          </a:solidFill>
          <a:ln w="12700">
            <a:solidFill>
              <a:srgbClr val="1A3320"/>
            </a:solidFill>
            <a:prstDash val="solid"/>
          </a:ln>
        </p:spPr>
        <p:txBody>
          <a:bodyPr/>
          <a:lstStyle/>
          <a:p>
            <a:endParaRPr lang="es-ES"/>
          </a:p>
        </p:txBody>
      </p:sp>
      <p:sp>
        <p:nvSpPr>
          <p:cNvPr id="3" name="Shape 1"/>
          <p:cNvSpPr/>
          <p:nvPr/>
        </p:nvSpPr>
        <p:spPr>
          <a:xfrm>
            <a:off x="-1097280" y="-1097280"/>
            <a:ext cx="4114800" cy="4114800"/>
          </a:xfrm>
          <a:prstGeom prst="ellipse">
            <a:avLst/>
          </a:prstGeom>
          <a:solidFill>
            <a:srgbClr val="2C7A3E">
              <a:alpha val="30000"/>
            </a:srgbClr>
          </a:solidFill>
          <a:ln w="12700">
            <a:solidFill>
              <a:srgbClr val="2C7A3E"/>
            </a:solidFill>
            <a:prstDash val="solid"/>
          </a:ln>
        </p:spPr>
        <p:txBody>
          <a:bodyPr/>
          <a:lstStyle/>
          <a:p>
            <a:endParaRPr lang="es-ES"/>
          </a:p>
        </p:txBody>
      </p:sp>
      <p:sp>
        <p:nvSpPr>
          <p:cNvPr id="4" name="Shape 2"/>
          <p:cNvSpPr/>
          <p:nvPr/>
        </p:nvSpPr>
        <p:spPr>
          <a:xfrm>
            <a:off x="3200400" y="3200400"/>
            <a:ext cx="2743200" cy="2743200"/>
          </a:xfrm>
          <a:prstGeom prst="ellipse">
            <a:avLst/>
          </a:prstGeom>
          <a:solidFill>
            <a:srgbClr val="4CAF65">
              <a:alpha val="18000"/>
            </a:srgbClr>
          </a:solidFill>
          <a:ln w="12700">
            <a:solidFill>
              <a:srgbClr val="4CAF65"/>
            </a:solidFill>
            <a:prstDash val="solid"/>
          </a:ln>
        </p:spPr>
        <p:txBody>
          <a:bodyPr/>
          <a:lstStyle/>
          <a:p>
            <a:endParaRPr lang="es-ES"/>
          </a:p>
        </p:txBody>
      </p:sp>
      <p:pic>
        <p:nvPicPr>
          <p:cNvPr id="5" name="Image 0" descr="preencoded.png"/>
          <p:cNvPicPr>
            <a:picLocks noChangeAspect="1"/>
          </p:cNvPicPr>
          <p:nvPr/>
        </p:nvPicPr>
        <p:blipFill>
          <a:blip r:embed="rId3"/>
          <a:stretch>
            <a:fillRect/>
          </a:stretch>
        </p:blipFill>
        <p:spPr>
          <a:xfrm>
            <a:off x="502920" y="502920"/>
            <a:ext cx="1188720" cy="1188720"/>
          </a:xfrm>
          <a:prstGeom prst="rect">
            <a:avLst/>
          </a:prstGeom>
        </p:spPr>
      </p:pic>
      <p:sp>
        <p:nvSpPr>
          <p:cNvPr id="6" name="Text 3"/>
          <p:cNvSpPr/>
          <p:nvPr/>
        </p:nvSpPr>
        <p:spPr>
          <a:xfrm>
            <a:off x="457200" y="1691640"/>
            <a:ext cx="4572000" cy="1371600"/>
          </a:xfrm>
          <a:prstGeom prst="rect">
            <a:avLst/>
          </a:prstGeom>
          <a:noFill/>
          <a:ln/>
        </p:spPr>
        <p:txBody>
          <a:bodyPr wrap="square" lIns="0" tIns="0" rIns="0" bIns="0" rtlCol="0" anchor="ctr"/>
          <a:lstStyle/>
          <a:p>
            <a:pPr marL="0" indent="0">
              <a:buNone/>
            </a:pPr>
            <a:r>
              <a:rPr lang="en-US" sz="6000" b="1" dirty="0">
                <a:solidFill>
                  <a:srgbClr val="FFFFFF"/>
                </a:solidFill>
                <a:latin typeface="Georgia" pitchFamily="34" charset="0"/>
                <a:ea typeface="Georgia" pitchFamily="34" charset="-122"/>
                <a:cs typeface="Georgia" pitchFamily="34" charset="-120"/>
              </a:rPr>
              <a:t>ReForest</a:t>
            </a:r>
            <a:endParaRPr lang="en-US" sz="6000" dirty="0"/>
          </a:p>
        </p:txBody>
      </p:sp>
      <p:sp>
        <p:nvSpPr>
          <p:cNvPr id="7" name="Text 4"/>
          <p:cNvSpPr/>
          <p:nvPr/>
        </p:nvSpPr>
        <p:spPr>
          <a:xfrm>
            <a:off x="457200" y="3017520"/>
            <a:ext cx="4572000" cy="502920"/>
          </a:xfrm>
          <a:prstGeom prst="rect">
            <a:avLst/>
          </a:prstGeom>
          <a:noFill/>
          <a:ln/>
        </p:spPr>
        <p:txBody>
          <a:bodyPr wrap="square" lIns="0" tIns="0" rIns="0" bIns="0" rtlCol="0" anchor="ctr"/>
          <a:lstStyle/>
          <a:p>
            <a:pPr marL="0" indent="0">
              <a:buNone/>
            </a:pPr>
            <a:r>
              <a:rPr lang="en-US" sz="1400" i="1" dirty="0">
                <a:solidFill>
                  <a:srgbClr val="8ED99F"/>
                </a:solidFill>
                <a:latin typeface="Calibri" pitchFamily="34" charset="0"/>
                <a:ea typeface="Calibri" pitchFamily="34" charset="-122"/>
                <a:cs typeface="Calibri" pitchFamily="34" charset="-120"/>
              </a:rPr>
              <a:t>Planta árboles. Cambia el mundo.</a:t>
            </a:r>
            <a:endParaRPr lang="en-US" sz="1400" dirty="0"/>
          </a:p>
        </p:txBody>
      </p:sp>
      <p:sp>
        <p:nvSpPr>
          <p:cNvPr id="8" name="Shape 5"/>
          <p:cNvSpPr/>
          <p:nvPr/>
        </p:nvSpPr>
        <p:spPr>
          <a:xfrm>
            <a:off x="457200" y="3566160"/>
            <a:ext cx="2286000" cy="36576"/>
          </a:xfrm>
          <a:prstGeom prst="rect">
            <a:avLst/>
          </a:prstGeom>
          <a:solidFill>
            <a:srgbClr val="4CAF65"/>
          </a:solidFill>
          <a:ln w="12700">
            <a:solidFill>
              <a:srgbClr val="4CAF65"/>
            </a:solidFill>
            <a:prstDash val="solid"/>
          </a:ln>
        </p:spPr>
        <p:txBody>
          <a:bodyPr/>
          <a:lstStyle/>
          <a:p>
            <a:endParaRPr lang="es-ES"/>
          </a:p>
        </p:txBody>
      </p:sp>
      <p:sp>
        <p:nvSpPr>
          <p:cNvPr id="9" name="Text 6"/>
          <p:cNvSpPr/>
          <p:nvPr/>
        </p:nvSpPr>
        <p:spPr>
          <a:xfrm>
            <a:off x="5669280" y="1371600"/>
            <a:ext cx="3200400" cy="365760"/>
          </a:xfrm>
          <a:prstGeom prst="rect">
            <a:avLst/>
          </a:prstGeom>
          <a:noFill/>
          <a:ln/>
        </p:spPr>
        <p:txBody>
          <a:bodyPr wrap="square" lIns="0" tIns="0" rIns="0" bIns="0" rtlCol="0" anchor="ctr"/>
          <a:lstStyle/>
          <a:p>
            <a:pPr marL="0" indent="0">
              <a:buNone/>
            </a:pPr>
            <a:r>
              <a:rPr lang="en-US" sz="1000" kern="0" spc="200" dirty="0">
                <a:solidFill>
                  <a:srgbClr val="8ED99F"/>
                </a:solidFill>
                <a:latin typeface="Calibri" pitchFamily="34" charset="0"/>
                <a:ea typeface="Calibri" pitchFamily="34" charset="-122"/>
                <a:cs typeface="Calibri" pitchFamily="34" charset="-120"/>
              </a:rPr>
              <a:t>Desarrollado por</a:t>
            </a:r>
            <a:endParaRPr lang="en-US" sz="1000" dirty="0"/>
          </a:p>
        </p:txBody>
      </p:sp>
      <p:sp>
        <p:nvSpPr>
          <p:cNvPr id="10" name="Shape 7"/>
          <p:cNvSpPr/>
          <p:nvPr/>
        </p:nvSpPr>
        <p:spPr>
          <a:xfrm>
            <a:off x="5669280" y="1965960"/>
            <a:ext cx="3108960" cy="502920"/>
          </a:xfrm>
          <a:prstGeom prst="rect">
            <a:avLst/>
          </a:prstGeom>
          <a:solidFill>
            <a:srgbClr val="2C7A3E">
              <a:alpha val="40000"/>
            </a:srgbClr>
          </a:solidFill>
          <a:ln w="12700">
            <a:solidFill>
              <a:srgbClr val="4CAF65"/>
            </a:solidFill>
            <a:prstDash val="solid"/>
          </a:ln>
        </p:spPr>
        <p:txBody>
          <a:bodyPr/>
          <a:lstStyle/>
          <a:p>
            <a:endParaRPr lang="es-ES"/>
          </a:p>
        </p:txBody>
      </p:sp>
      <p:sp>
        <p:nvSpPr>
          <p:cNvPr id="11" name="Text 8"/>
          <p:cNvSpPr/>
          <p:nvPr/>
        </p:nvSpPr>
        <p:spPr>
          <a:xfrm>
            <a:off x="5852160" y="1965960"/>
            <a:ext cx="292608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David García Sesma</a:t>
            </a:r>
            <a:endParaRPr lang="en-US" sz="1200" dirty="0"/>
          </a:p>
        </p:txBody>
      </p:sp>
      <p:sp>
        <p:nvSpPr>
          <p:cNvPr id="12" name="Shape 9"/>
          <p:cNvSpPr/>
          <p:nvPr/>
        </p:nvSpPr>
        <p:spPr>
          <a:xfrm>
            <a:off x="5669280" y="2697480"/>
            <a:ext cx="3108960" cy="502920"/>
          </a:xfrm>
          <a:prstGeom prst="rect">
            <a:avLst/>
          </a:prstGeom>
          <a:solidFill>
            <a:srgbClr val="2C7A3E">
              <a:alpha val="40000"/>
            </a:srgbClr>
          </a:solidFill>
          <a:ln w="12700">
            <a:solidFill>
              <a:srgbClr val="4CAF65"/>
            </a:solidFill>
            <a:prstDash val="solid"/>
          </a:ln>
        </p:spPr>
        <p:txBody>
          <a:bodyPr/>
          <a:lstStyle/>
          <a:p>
            <a:endParaRPr lang="es-ES"/>
          </a:p>
        </p:txBody>
      </p:sp>
      <p:sp>
        <p:nvSpPr>
          <p:cNvPr id="13" name="Text 10"/>
          <p:cNvSpPr/>
          <p:nvPr/>
        </p:nvSpPr>
        <p:spPr>
          <a:xfrm>
            <a:off x="5852160" y="2697480"/>
            <a:ext cx="292608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Andrea Fernández de la Rosa</a:t>
            </a:r>
            <a:endParaRPr lang="en-US" sz="1200" dirty="0"/>
          </a:p>
        </p:txBody>
      </p:sp>
      <p:sp>
        <p:nvSpPr>
          <p:cNvPr id="14" name="Shape 11"/>
          <p:cNvSpPr/>
          <p:nvPr/>
        </p:nvSpPr>
        <p:spPr>
          <a:xfrm>
            <a:off x="5669280" y="3429000"/>
            <a:ext cx="3108960" cy="502920"/>
          </a:xfrm>
          <a:prstGeom prst="rect">
            <a:avLst/>
          </a:prstGeom>
          <a:solidFill>
            <a:srgbClr val="2C7A3E">
              <a:alpha val="40000"/>
            </a:srgbClr>
          </a:solidFill>
          <a:ln w="12700">
            <a:solidFill>
              <a:srgbClr val="4CAF65"/>
            </a:solidFill>
            <a:prstDash val="solid"/>
          </a:ln>
        </p:spPr>
        <p:txBody>
          <a:bodyPr/>
          <a:lstStyle/>
          <a:p>
            <a:endParaRPr lang="es-ES"/>
          </a:p>
        </p:txBody>
      </p:sp>
      <p:sp>
        <p:nvSpPr>
          <p:cNvPr id="15" name="Text 12"/>
          <p:cNvSpPr/>
          <p:nvPr/>
        </p:nvSpPr>
        <p:spPr>
          <a:xfrm>
            <a:off x="5852160" y="3429000"/>
            <a:ext cx="292608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Cristina Serrano Vicente</a:t>
            </a:r>
            <a:endParaRPr lang="en-US" sz="1200" dirty="0"/>
          </a:p>
        </p:txBody>
      </p:sp>
      <p:sp>
        <p:nvSpPr>
          <p:cNvPr id="16" name="Shape 13"/>
          <p:cNvSpPr/>
          <p:nvPr/>
        </p:nvSpPr>
        <p:spPr>
          <a:xfrm>
            <a:off x="5669280" y="4663440"/>
            <a:ext cx="91440" cy="91440"/>
          </a:xfrm>
          <a:prstGeom prst="ellipse">
            <a:avLst/>
          </a:prstGeom>
          <a:solidFill>
            <a:srgbClr val="4CAF65"/>
          </a:solidFill>
          <a:ln w="12700">
            <a:solidFill>
              <a:srgbClr val="4CAF65"/>
            </a:solidFill>
            <a:prstDash val="solid"/>
          </a:ln>
        </p:spPr>
        <p:txBody>
          <a:bodyPr/>
          <a:lstStyle/>
          <a:p>
            <a:endParaRPr lang="es-ES"/>
          </a:p>
        </p:txBody>
      </p:sp>
      <p:sp>
        <p:nvSpPr>
          <p:cNvPr id="17" name="Shape 14"/>
          <p:cNvSpPr/>
          <p:nvPr/>
        </p:nvSpPr>
        <p:spPr>
          <a:xfrm>
            <a:off x="5870448" y="4663440"/>
            <a:ext cx="91440" cy="91440"/>
          </a:xfrm>
          <a:prstGeom prst="ellipse">
            <a:avLst/>
          </a:prstGeom>
          <a:solidFill>
            <a:srgbClr val="8ED99F"/>
          </a:solidFill>
          <a:ln w="12700">
            <a:solidFill>
              <a:srgbClr val="8ED99F"/>
            </a:solidFill>
            <a:prstDash val="solid"/>
          </a:ln>
        </p:spPr>
        <p:txBody>
          <a:bodyPr/>
          <a:lstStyle/>
          <a:p>
            <a:endParaRPr lang="es-ES"/>
          </a:p>
        </p:txBody>
      </p:sp>
      <p:sp>
        <p:nvSpPr>
          <p:cNvPr id="18" name="Shape 15"/>
          <p:cNvSpPr/>
          <p:nvPr/>
        </p:nvSpPr>
        <p:spPr>
          <a:xfrm>
            <a:off x="6071616" y="4663440"/>
            <a:ext cx="91440" cy="91440"/>
          </a:xfrm>
          <a:prstGeom prst="ellipse">
            <a:avLst/>
          </a:prstGeom>
          <a:solidFill>
            <a:srgbClr val="2C7A3E"/>
          </a:solidFill>
          <a:ln w="12700">
            <a:solidFill>
              <a:srgbClr val="2C7A3E"/>
            </a:solidFill>
            <a:prstDash val="solid"/>
          </a:ln>
        </p:spPr>
        <p:txBody>
          <a:bodyPr/>
          <a:lstStyle/>
          <a:p>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9F4"/>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C7A3E"/>
          </a:solidFill>
          <a:ln w="12700">
            <a:solidFill>
              <a:srgbClr val="2C7A3E"/>
            </a:solidFill>
            <a:prstDash val="solid"/>
          </a:ln>
        </p:spPr>
        <p:txBody>
          <a:bodyPr/>
          <a:lstStyle/>
          <a:p>
            <a:endParaRPr lang="es-ES"/>
          </a:p>
        </p:txBody>
      </p:sp>
      <p:sp>
        <p:nvSpPr>
          <p:cNvPr id="3" name="Text 1"/>
          <p:cNvSpPr/>
          <p:nvPr/>
        </p:nvSpPr>
        <p:spPr>
          <a:xfrm>
            <a:off x="457200" y="320040"/>
            <a:ext cx="8229600" cy="640080"/>
          </a:xfrm>
          <a:prstGeom prst="rect">
            <a:avLst/>
          </a:prstGeom>
          <a:noFill/>
          <a:ln/>
        </p:spPr>
        <p:txBody>
          <a:bodyPr wrap="square" lIns="0" tIns="0" rIns="0" bIns="0" rtlCol="0" anchor="ctr"/>
          <a:lstStyle/>
          <a:p>
            <a:pPr marL="0" indent="0">
              <a:buNone/>
            </a:pPr>
            <a:r>
              <a:rPr lang="en-US" sz="3400" b="1" dirty="0">
                <a:solidFill>
                  <a:srgbClr val="0D1F0F"/>
                </a:solidFill>
                <a:latin typeface="Georgia" pitchFamily="34" charset="0"/>
                <a:ea typeface="Georgia" pitchFamily="34" charset="-122"/>
                <a:cs typeface="Georgia" pitchFamily="34" charset="-120"/>
              </a:rPr>
              <a:t>¿Qué es ReForest?</a:t>
            </a:r>
            <a:endParaRPr lang="en-US" sz="3400" dirty="0"/>
          </a:p>
        </p:txBody>
      </p:sp>
      <p:sp>
        <p:nvSpPr>
          <p:cNvPr id="4" name="Shape 2"/>
          <p:cNvSpPr/>
          <p:nvPr/>
        </p:nvSpPr>
        <p:spPr>
          <a:xfrm>
            <a:off x="457200" y="1097280"/>
            <a:ext cx="5120640" cy="137160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pic>
        <p:nvPicPr>
          <p:cNvPr id="5" name="Image 0" descr="preencoded.png"/>
          <p:cNvPicPr>
            <a:picLocks noChangeAspect="1"/>
          </p:cNvPicPr>
          <p:nvPr/>
        </p:nvPicPr>
        <p:blipFill>
          <a:blip r:embed="rId3"/>
          <a:stretch>
            <a:fillRect/>
          </a:stretch>
        </p:blipFill>
        <p:spPr>
          <a:xfrm>
            <a:off x="685800" y="1261872"/>
            <a:ext cx="502920" cy="502920"/>
          </a:xfrm>
          <a:prstGeom prst="rect">
            <a:avLst/>
          </a:prstGeom>
        </p:spPr>
      </p:pic>
      <p:sp>
        <p:nvSpPr>
          <p:cNvPr id="6" name="Text 3"/>
          <p:cNvSpPr/>
          <p:nvPr/>
        </p:nvSpPr>
        <p:spPr>
          <a:xfrm>
            <a:off x="1325880" y="1143000"/>
            <a:ext cx="4114800" cy="1234440"/>
          </a:xfrm>
          <a:prstGeom prst="rect">
            <a:avLst/>
          </a:prstGeom>
          <a:noFill/>
          <a:ln/>
        </p:spPr>
        <p:txBody>
          <a:bodyPr wrap="square" lIns="0" tIns="0" rIns="0" bIns="0" rtlCol="0" anchor="ctr"/>
          <a:lstStyle/>
          <a:p>
            <a:pPr marL="0" indent="0">
              <a:buNone/>
            </a:pPr>
            <a:r>
              <a:rPr lang="en-US" sz="1300" dirty="0">
                <a:solidFill>
                  <a:srgbClr val="2C3E2E"/>
                </a:solidFill>
                <a:latin typeface="Calibri" pitchFamily="34" charset="0"/>
                <a:ea typeface="Calibri" pitchFamily="34" charset="-122"/>
                <a:cs typeface="Calibri" pitchFamily="34" charset="-120"/>
              </a:rPr>
              <a:t>Aplicación web full-stack que permite a usuarios donar para plantar árboles, conectando donantes con un catálogo de especies arbóreas gestionado por administradores.</a:t>
            </a:r>
            <a:endParaRPr lang="en-US" sz="1300" dirty="0"/>
          </a:p>
        </p:txBody>
      </p:sp>
      <p:sp>
        <p:nvSpPr>
          <p:cNvPr id="7" name="Shape 4"/>
          <p:cNvSpPr/>
          <p:nvPr/>
        </p:nvSpPr>
        <p:spPr>
          <a:xfrm>
            <a:off x="457200" y="2697480"/>
            <a:ext cx="2651760" cy="210312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8" name="Shape 5"/>
          <p:cNvSpPr/>
          <p:nvPr/>
        </p:nvSpPr>
        <p:spPr>
          <a:xfrm>
            <a:off x="1463040" y="2788920"/>
            <a:ext cx="640080" cy="640080"/>
          </a:xfrm>
          <a:prstGeom prst="ellipse">
            <a:avLst/>
          </a:prstGeom>
          <a:solidFill>
            <a:srgbClr val="2C7A3E"/>
          </a:solidFill>
          <a:ln w="12700">
            <a:solidFill>
              <a:srgbClr val="2C7A3E"/>
            </a:solidFill>
            <a:prstDash val="solid"/>
          </a:ln>
        </p:spPr>
        <p:txBody>
          <a:bodyPr/>
          <a:lstStyle/>
          <a:p>
            <a:endParaRPr lang="es-ES"/>
          </a:p>
        </p:txBody>
      </p:sp>
      <p:sp>
        <p:nvSpPr>
          <p:cNvPr id="9" name="Shape 6"/>
          <p:cNvSpPr/>
          <p:nvPr/>
        </p:nvSpPr>
        <p:spPr>
          <a:xfrm>
            <a:off x="3337560" y="2697480"/>
            <a:ext cx="2651760" cy="210312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10" name="Shape 7"/>
          <p:cNvSpPr/>
          <p:nvPr/>
        </p:nvSpPr>
        <p:spPr>
          <a:xfrm>
            <a:off x="4343400" y="2788920"/>
            <a:ext cx="640080" cy="640080"/>
          </a:xfrm>
          <a:prstGeom prst="ellipse">
            <a:avLst/>
          </a:prstGeom>
          <a:solidFill>
            <a:srgbClr val="2C7A3E"/>
          </a:solidFill>
          <a:ln w="12700">
            <a:solidFill>
              <a:srgbClr val="2C7A3E"/>
            </a:solidFill>
            <a:prstDash val="solid"/>
          </a:ln>
        </p:spPr>
        <p:txBody>
          <a:bodyPr/>
          <a:lstStyle/>
          <a:p>
            <a:endParaRPr lang="es-ES"/>
          </a:p>
        </p:txBody>
      </p:sp>
      <p:sp>
        <p:nvSpPr>
          <p:cNvPr id="11" name="Shape 8"/>
          <p:cNvSpPr/>
          <p:nvPr/>
        </p:nvSpPr>
        <p:spPr>
          <a:xfrm>
            <a:off x="6217920" y="2697480"/>
            <a:ext cx="2651760" cy="210312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12" name="Shape 9"/>
          <p:cNvSpPr/>
          <p:nvPr/>
        </p:nvSpPr>
        <p:spPr>
          <a:xfrm>
            <a:off x="7223760" y="2788920"/>
            <a:ext cx="640080" cy="640080"/>
          </a:xfrm>
          <a:prstGeom prst="ellipse">
            <a:avLst/>
          </a:prstGeom>
          <a:solidFill>
            <a:srgbClr val="2C7A3E"/>
          </a:solidFill>
          <a:ln w="12700">
            <a:solidFill>
              <a:srgbClr val="2C7A3E"/>
            </a:solidFill>
            <a:prstDash val="solid"/>
          </a:ln>
        </p:spPr>
        <p:txBody>
          <a:bodyPr/>
          <a:lstStyle/>
          <a:p>
            <a:endParaRPr lang="es-ES"/>
          </a:p>
        </p:txBody>
      </p:sp>
      <p:sp>
        <p:nvSpPr>
          <p:cNvPr id="13" name="Shape 10"/>
          <p:cNvSpPr/>
          <p:nvPr/>
        </p:nvSpPr>
        <p:spPr>
          <a:xfrm>
            <a:off x="5852160" y="1097280"/>
            <a:ext cx="1508760" cy="1463040"/>
          </a:xfrm>
          <a:prstGeom prst="rect">
            <a:avLst/>
          </a:prstGeom>
          <a:solidFill>
            <a:srgbClr val="2C7A3E"/>
          </a:solidFill>
          <a:ln w="12700">
            <a:solidFill>
              <a:srgbClr val="2C7A3E"/>
            </a:solidFill>
            <a:prstDash val="solid"/>
          </a:ln>
        </p:spPr>
        <p:txBody>
          <a:bodyPr/>
          <a:lstStyle/>
          <a:p>
            <a:endParaRPr lang="es-ES"/>
          </a:p>
        </p:txBody>
      </p:sp>
      <p:sp>
        <p:nvSpPr>
          <p:cNvPr id="14" name="Text 11"/>
          <p:cNvSpPr/>
          <p:nvPr/>
        </p:nvSpPr>
        <p:spPr>
          <a:xfrm>
            <a:off x="5852160" y="1143000"/>
            <a:ext cx="150876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Impact" pitchFamily="34" charset="0"/>
                <a:ea typeface="Impact" pitchFamily="34" charset="-122"/>
                <a:cs typeface="Impact" pitchFamily="34" charset="-120"/>
              </a:rPr>
              <a:t>13</a:t>
            </a:r>
            <a:endParaRPr lang="en-US" sz="3600" dirty="0"/>
          </a:p>
        </p:txBody>
      </p:sp>
      <p:sp>
        <p:nvSpPr>
          <p:cNvPr id="15" name="Text 12"/>
          <p:cNvSpPr/>
          <p:nvPr/>
        </p:nvSpPr>
        <p:spPr>
          <a:xfrm>
            <a:off x="5852160" y="1737360"/>
            <a:ext cx="1508760" cy="77724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ACCIÓN</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POR EL CLIMA</a:t>
            </a:r>
            <a:endParaRPr lang="en-US" sz="950" dirty="0"/>
          </a:p>
        </p:txBody>
      </p:sp>
      <p:sp>
        <p:nvSpPr>
          <p:cNvPr id="16" name="Shape 13"/>
          <p:cNvSpPr/>
          <p:nvPr/>
        </p:nvSpPr>
        <p:spPr>
          <a:xfrm>
            <a:off x="7543800" y="1097280"/>
            <a:ext cx="1508760" cy="1463040"/>
          </a:xfrm>
          <a:prstGeom prst="rect">
            <a:avLst/>
          </a:prstGeom>
          <a:solidFill>
            <a:srgbClr val="4CAF65"/>
          </a:solidFill>
          <a:ln w="12700">
            <a:solidFill>
              <a:srgbClr val="4CAF65"/>
            </a:solidFill>
            <a:prstDash val="solid"/>
          </a:ln>
        </p:spPr>
        <p:txBody>
          <a:bodyPr/>
          <a:lstStyle/>
          <a:p>
            <a:endParaRPr lang="es-ES"/>
          </a:p>
        </p:txBody>
      </p:sp>
      <p:sp>
        <p:nvSpPr>
          <p:cNvPr id="17" name="Text 14"/>
          <p:cNvSpPr/>
          <p:nvPr/>
        </p:nvSpPr>
        <p:spPr>
          <a:xfrm>
            <a:off x="7543800" y="1143000"/>
            <a:ext cx="150876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Impact" pitchFamily="34" charset="0"/>
                <a:ea typeface="Impact" pitchFamily="34" charset="-122"/>
                <a:cs typeface="Impact" pitchFamily="34" charset="-120"/>
              </a:rPr>
              <a:t>15</a:t>
            </a:r>
            <a:endParaRPr lang="en-US" sz="3600" dirty="0"/>
          </a:p>
        </p:txBody>
      </p:sp>
      <p:sp>
        <p:nvSpPr>
          <p:cNvPr id="18" name="Text 15"/>
          <p:cNvSpPr/>
          <p:nvPr/>
        </p:nvSpPr>
        <p:spPr>
          <a:xfrm>
            <a:off x="7543800" y="1737360"/>
            <a:ext cx="1508760" cy="77724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VIDA DE</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ECOSISTEMAS</a:t>
            </a:r>
            <a:endParaRPr lang="en-US" sz="950" dirty="0"/>
          </a:p>
        </p:txBody>
      </p:sp>
      <p:pic>
        <p:nvPicPr>
          <p:cNvPr id="19" name="Image 1" descr="preencoded.png"/>
          <p:cNvPicPr>
            <a:picLocks noChangeAspect="1"/>
          </p:cNvPicPr>
          <p:nvPr/>
        </p:nvPicPr>
        <p:blipFill>
          <a:blip r:embed="rId4"/>
          <a:stretch>
            <a:fillRect/>
          </a:stretch>
        </p:blipFill>
        <p:spPr>
          <a:xfrm>
            <a:off x="4416552" y="2852928"/>
            <a:ext cx="493776" cy="493776"/>
          </a:xfrm>
          <a:prstGeom prst="rect">
            <a:avLst/>
          </a:prstGeom>
        </p:spPr>
      </p:pic>
      <p:sp>
        <p:nvSpPr>
          <p:cNvPr id="20" name="Text 16"/>
          <p:cNvSpPr/>
          <p:nvPr/>
        </p:nvSpPr>
        <p:spPr>
          <a:xfrm>
            <a:off x="3429000" y="3493008"/>
            <a:ext cx="2468880" cy="347472"/>
          </a:xfrm>
          <a:prstGeom prst="rect">
            <a:avLst/>
          </a:prstGeom>
          <a:noFill/>
          <a:ln/>
        </p:spPr>
        <p:txBody>
          <a:bodyPr wrap="square" lIns="0" tIns="0" rIns="0" bIns="0" rtlCol="0" anchor="ctr"/>
          <a:lstStyle/>
          <a:p>
            <a:pPr marL="0" indent="0" algn="ctr">
              <a:buNone/>
            </a:pPr>
            <a:r>
              <a:rPr lang="en-US" sz="1400" b="1" dirty="0">
                <a:solidFill>
                  <a:srgbClr val="0D1F0F"/>
                </a:solidFill>
                <a:latin typeface="Georgia" pitchFamily="34" charset="0"/>
                <a:ea typeface="Georgia" pitchFamily="34" charset="-122"/>
                <a:cs typeface="Georgia" pitchFamily="34" charset="-120"/>
              </a:rPr>
              <a:t>Especies</a:t>
            </a:r>
            <a:endParaRPr lang="en-US" sz="1400" dirty="0"/>
          </a:p>
        </p:txBody>
      </p:sp>
      <p:sp>
        <p:nvSpPr>
          <p:cNvPr id="21" name="Text 17"/>
          <p:cNvSpPr/>
          <p:nvPr/>
        </p:nvSpPr>
        <p:spPr>
          <a:xfrm>
            <a:off x="3474720" y="3858768"/>
            <a:ext cx="2377440" cy="777240"/>
          </a:xfrm>
          <a:prstGeom prst="rect">
            <a:avLst/>
          </a:prstGeom>
          <a:noFill/>
          <a:ln/>
        </p:spPr>
        <p:txBody>
          <a:bodyPr wrap="square" lIns="0" tIns="0" rIns="0" bIns="0" rtlCol="0" anchor="ctr"/>
          <a:lstStyle/>
          <a:p>
            <a:pPr marL="0" indent="0" algn="ctr">
              <a:buNone/>
            </a:pPr>
            <a:r>
              <a:rPr lang="en-US" sz="1050" dirty="0">
                <a:solidFill>
                  <a:srgbClr val="6B8F71"/>
                </a:solidFill>
                <a:latin typeface="Calibri" pitchFamily="34" charset="0"/>
                <a:ea typeface="Calibri" pitchFamily="34" charset="-122"/>
                <a:cs typeface="Calibri" pitchFamily="34" charset="-120"/>
              </a:rPr>
              <a:t>Catálogo de árboles curado por administradores</a:t>
            </a:r>
            <a:endParaRPr lang="en-US" sz="1050" dirty="0"/>
          </a:p>
        </p:txBody>
      </p:sp>
      <p:pic>
        <p:nvPicPr>
          <p:cNvPr id="22" name="Image 2" descr="preencoded.png"/>
          <p:cNvPicPr>
            <a:picLocks noChangeAspect="1"/>
          </p:cNvPicPr>
          <p:nvPr/>
        </p:nvPicPr>
        <p:blipFill>
          <a:blip r:embed="rId5"/>
          <a:stretch>
            <a:fillRect/>
          </a:stretch>
        </p:blipFill>
        <p:spPr>
          <a:xfrm>
            <a:off x="1536192" y="2852928"/>
            <a:ext cx="493776" cy="493776"/>
          </a:xfrm>
          <a:prstGeom prst="rect">
            <a:avLst/>
          </a:prstGeom>
        </p:spPr>
      </p:pic>
      <p:sp>
        <p:nvSpPr>
          <p:cNvPr id="23" name="Text 18"/>
          <p:cNvSpPr/>
          <p:nvPr/>
        </p:nvSpPr>
        <p:spPr>
          <a:xfrm>
            <a:off x="548640" y="3493008"/>
            <a:ext cx="2468880" cy="347472"/>
          </a:xfrm>
          <a:prstGeom prst="rect">
            <a:avLst/>
          </a:prstGeom>
          <a:noFill/>
          <a:ln/>
        </p:spPr>
        <p:txBody>
          <a:bodyPr wrap="square" lIns="0" tIns="0" rIns="0" bIns="0" rtlCol="0" anchor="ctr"/>
          <a:lstStyle/>
          <a:p>
            <a:pPr marL="0" indent="0" algn="ctr">
              <a:buNone/>
            </a:pPr>
            <a:r>
              <a:rPr lang="en-US" sz="1400" b="1" dirty="0">
                <a:solidFill>
                  <a:srgbClr val="0D1F0F"/>
                </a:solidFill>
                <a:latin typeface="Georgia" pitchFamily="34" charset="0"/>
                <a:ea typeface="Georgia" pitchFamily="34" charset="-122"/>
                <a:cs typeface="Georgia" pitchFamily="34" charset="-120"/>
              </a:rPr>
              <a:t>Donantes</a:t>
            </a:r>
            <a:endParaRPr lang="en-US" sz="1400" dirty="0"/>
          </a:p>
        </p:txBody>
      </p:sp>
      <p:sp>
        <p:nvSpPr>
          <p:cNvPr id="24" name="Text 19"/>
          <p:cNvSpPr/>
          <p:nvPr/>
        </p:nvSpPr>
        <p:spPr>
          <a:xfrm>
            <a:off x="594360" y="3858768"/>
            <a:ext cx="2377440" cy="777240"/>
          </a:xfrm>
          <a:prstGeom prst="rect">
            <a:avLst/>
          </a:prstGeom>
          <a:noFill/>
          <a:ln/>
        </p:spPr>
        <p:txBody>
          <a:bodyPr wrap="square" lIns="0" tIns="0" rIns="0" bIns="0" rtlCol="0" anchor="ctr"/>
          <a:lstStyle/>
          <a:p>
            <a:pPr marL="0" indent="0" algn="ctr">
              <a:buNone/>
            </a:pPr>
            <a:r>
              <a:rPr lang="en-US" sz="1050" dirty="0">
                <a:solidFill>
                  <a:srgbClr val="6B8F71"/>
                </a:solidFill>
                <a:latin typeface="Calibri" pitchFamily="34" charset="0"/>
                <a:ea typeface="Calibri" pitchFamily="34" charset="-122"/>
                <a:cs typeface="Calibri" pitchFamily="34" charset="-120"/>
              </a:rPr>
              <a:t>Usuarios que contribuyen a reforestar el planeta</a:t>
            </a:r>
            <a:endParaRPr lang="en-US" sz="1050" dirty="0"/>
          </a:p>
        </p:txBody>
      </p:sp>
      <p:pic>
        <p:nvPicPr>
          <p:cNvPr id="25" name="Image 3" descr="preencoded.png"/>
          <p:cNvPicPr>
            <a:picLocks noChangeAspect="1"/>
          </p:cNvPicPr>
          <p:nvPr/>
        </p:nvPicPr>
        <p:blipFill>
          <a:blip r:embed="rId6"/>
          <a:stretch>
            <a:fillRect/>
          </a:stretch>
        </p:blipFill>
        <p:spPr>
          <a:xfrm>
            <a:off x="7296912" y="2852928"/>
            <a:ext cx="493776" cy="493776"/>
          </a:xfrm>
          <a:prstGeom prst="rect">
            <a:avLst/>
          </a:prstGeom>
        </p:spPr>
      </p:pic>
      <p:sp>
        <p:nvSpPr>
          <p:cNvPr id="26" name="Text 20"/>
          <p:cNvSpPr/>
          <p:nvPr/>
        </p:nvSpPr>
        <p:spPr>
          <a:xfrm>
            <a:off x="6309360" y="3493008"/>
            <a:ext cx="2468880" cy="347472"/>
          </a:xfrm>
          <a:prstGeom prst="rect">
            <a:avLst/>
          </a:prstGeom>
          <a:noFill/>
          <a:ln/>
        </p:spPr>
        <p:txBody>
          <a:bodyPr wrap="square" lIns="0" tIns="0" rIns="0" bIns="0" rtlCol="0" anchor="ctr"/>
          <a:lstStyle/>
          <a:p>
            <a:pPr marL="0" indent="0" algn="ctr">
              <a:buNone/>
            </a:pPr>
            <a:r>
              <a:rPr lang="en-US" sz="1400" b="1" dirty="0">
                <a:solidFill>
                  <a:srgbClr val="0D1F0F"/>
                </a:solidFill>
                <a:latin typeface="Georgia" pitchFamily="34" charset="0"/>
                <a:ea typeface="Georgia" pitchFamily="34" charset="-122"/>
                <a:cs typeface="Georgia" pitchFamily="34" charset="-120"/>
              </a:rPr>
              <a:t>Donaciones</a:t>
            </a:r>
            <a:endParaRPr lang="en-US" sz="1400" dirty="0"/>
          </a:p>
        </p:txBody>
      </p:sp>
      <p:sp>
        <p:nvSpPr>
          <p:cNvPr id="27" name="Text 21"/>
          <p:cNvSpPr/>
          <p:nvPr/>
        </p:nvSpPr>
        <p:spPr>
          <a:xfrm>
            <a:off x="6355080" y="3858768"/>
            <a:ext cx="2377440" cy="777240"/>
          </a:xfrm>
          <a:prstGeom prst="rect">
            <a:avLst/>
          </a:prstGeom>
          <a:noFill/>
          <a:ln/>
        </p:spPr>
        <p:txBody>
          <a:bodyPr wrap="square" lIns="0" tIns="0" rIns="0" bIns="0" rtlCol="0" anchor="ctr"/>
          <a:lstStyle/>
          <a:p>
            <a:pPr marL="0" indent="0" algn="ctr">
              <a:buNone/>
            </a:pPr>
            <a:r>
              <a:rPr lang="en-US" sz="1050" dirty="0">
                <a:solidFill>
                  <a:srgbClr val="6B8F71"/>
                </a:solidFill>
                <a:latin typeface="Calibri" pitchFamily="34" charset="0"/>
                <a:ea typeface="Calibri" pitchFamily="34" charset="-122"/>
                <a:cs typeface="Calibri" pitchFamily="34" charset="-120"/>
              </a:rPr>
              <a:t>Sistema de donaciones seguro y transparente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F0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Stack Tecnológico</a:t>
            </a:r>
            <a:endParaRPr lang="en-US" sz="3200" dirty="0"/>
          </a:p>
        </p:txBody>
      </p:sp>
      <p:sp>
        <p:nvSpPr>
          <p:cNvPr id="3" name="Text 1"/>
          <p:cNvSpPr/>
          <p:nvPr/>
        </p:nvSpPr>
        <p:spPr>
          <a:xfrm>
            <a:off x="457200" y="868680"/>
            <a:ext cx="8229600" cy="320040"/>
          </a:xfrm>
          <a:prstGeom prst="rect">
            <a:avLst/>
          </a:prstGeom>
          <a:noFill/>
          <a:ln/>
        </p:spPr>
        <p:txBody>
          <a:bodyPr wrap="square" lIns="0" tIns="0" rIns="0" bIns="0" rtlCol="0" anchor="ctr"/>
          <a:lstStyle/>
          <a:p>
            <a:pPr marL="0" indent="0">
              <a:buNone/>
            </a:pPr>
            <a:r>
              <a:rPr lang="en-US" sz="1300" i="1" dirty="0">
                <a:solidFill>
                  <a:srgbClr val="8ED99F"/>
                </a:solidFill>
                <a:latin typeface="Calibri" pitchFamily="34" charset="0"/>
                <a:ea typeface="Calibri" pitchFamily="34" charset="-122"/>
                <a:cs typeface="Calibri" pitchFamily="34" charset="-120"/>
              </a:rPr>
              <a:t>Arquitectura moderna y robusta</a:t>
            </a:r>
            <a:endParaRPr lang="en-US" sz="1300" dirty="0"/>
          </a:p>
        </p:txBody>
      </p:sp>
      <p:sp>
        <p:nvSpPr>
          <p:cNvPr id="4" name="Shape 2"/>
          <p:cNvSpPr/>
          <p:nvPr/>
        </p:nvSpPr>
        <p:spPr>
          <a:xfrm>
            <a:off x="365760" y="1371600"/>
            <a:ext cx="4023360" cy="3474720"/>
          </a:xfrm>
          <a:prstGeom prst="rect">
            <a:avLst/>
          </a:prstGeom>
          <a:solidFill>
            <a:srgbClr val="1A3320"/>
          </a:solidFill>
          <a:ln w="25400">
            <a:solidFill>
              <a:srgbClr val="4CAF65"/>
            </a:solidFill>
            <a:prstDash val="solid"/>
          </a:ln>
        </p:spPr>
        <p:txBody>
          <a:bodyPr/>
          <a:lstStyle/>
          <a:p>
            <a:endParaRPr lang="es-ES"/>
          </a:p>
        </p:txBody>
      </p:sp>
      <p:sp>
        <p:nvSpPr>
          <p:cNvPr id="5" name="Shape 3"/>
          <p:cNvSpPr/>
          <p:nvPr/>
        </p:nvSpPr>
        <p:spPr>
          <a:xfrm>
            <a:off x="365760" y="1371600"/>
            <a:ext cx="4023360" cy="64008"/>
          </a:xfrm>
          <a:prstGeom prst="rect">
            <a:avLst/>
          </a:prstGeom>
          <a:solidFill>
            <a:srgbClr val="4CAF65"/>
          </a:solidFill>
          <a:ln w="12700">
            <a:solidFill>
              <a:srgbClr val="4CAF65"/>
            </a:solidFill>
            <a:prstDash val="solid"/>
          </a:ln>
        </p:spPr>
        <p:txBody>
          <a:bodyPr/>
          <a:lstStyle/>
          <a:p>
            <a:endParaRPr lang="es-ES"/>
          </a:p>
        </p:txBody>
      </p:sp>
      <p:pic>
        <p:nvPicPr>
          <p:cNvPr id="6" name="Image 0" descr="preencoded.png"/>
          <p:cNvPicPr>
            <a:picLocks noChangeAspect="1"/>
          </p:cNvPicPr>
          <p:nvPr/>
        </p:nvPicPr>
        <p:blipFill>
          <a:blip r:embed="rId3"/>
          <a:stretch>
            <a:fillRect/>
          </a:stretch>
        </p:blipFill>
        <p:spPr>
          <a:xfrm>
            <a:off x="548640" y="1508760"/>
            <a:ext cx="502920" cy="502920"/>
          </a:xfrm>
          <a:prstGeom prst="rect">
            <a:avLst/>
          </a:prstGeom>
        </p:spPr>
      </p:pic>
      <p:sp>
        <p:nvSpPr>
          <p:cNvPr id="7" name="Text 4"/>
          <p:cNvSpPr/>
          <p:nvPr/>
        </p:nvSpPr>
        <p:spPr>
          <a:xfrm>
            <a:off x="1143000" y="1508760"/>
            <a:ext cx="3017520" cy="502920"/>
          </a:xfrm>
          <a:prstGeom prst="rect">
            <a:avLst/>
          </a:prstGeom>
          <a:noFill/>
          <a:ln/>
        </p:spPr>
        <p:txBody>
          <a:bodyPr wrap="square" lIns="0" tIns="0" rIns="0" bIns="0" rtlCol="0" anchor="ctr"/>
          <a:lstStyle/>
          <a:p>
            <a:pPr marL="0" indent="0">
              <a:buNone/>
            </a:pPr>
            <a:r>
              <a:rPr lang="en-US" sz="1800" b="1" dirty="0">
                <a:solidFill>
                  <a:srgbClr val="4CAF65"/>
                </a:solidFill>
                <a:latin typeface="Georgia" pitchFamily="34" charset="0"/>
                <a:ea typeface="Georgia" pitchFamily="34" charset="-122"/>
                <a:cs typeface="Georgia" pitchFamily="34" charset="-120"/>
              </a:rPr>
              <a:t>Frontend</a:t>
            </a:r>
            <a:endParaRPr lang="en-US" sz="1800" dirty="0"/>
          </a:p>
        </p:txBody>
      </p:sp>
      <p:sp>
        <p:nvSpPr>
          <p:cNvPr id="8" name="Shape 5"/>
          <p:cNvSpPr/>
          <p:nvPr/>
        </p:nvSpPr>
        <p:spPr>
          <a:xfrm>
            <a:off x="594360" y="2212848"/>
            <a:ext cx="128016" cy="128016"/>
          </a:xfrm>
          <a:prstGeom prst="ellipse">
            <a:avLst/>
          </a:prstGeom>
          <a:solidFill>
            <a:srgbClr val="4CAF65"/>
          </a:solidFill>
          <a:ln w="12700">
            <a:solidFill>
              <a:srgbClr val="4CAF65"/>
            </a:solidFill>
            <a:prstDash val="solid"/>
          </a:ln>
        </p:spPr>
        <p:txBody>
          <a:bodyPr/>
          <a:lstStyle/>
          <a:p>
            <a:endParaRPr lang="es-ES"/>
          </a:p>
        </p:txBody>
      </p:sp>
      <p:sp>
        <p:nvSpPr>
          <p:cNvPr id="9" name="Text 6"/>
          <p:cNvSpPr/>
          <p:nvPr/>
        </p:nvSpPr>
        <p:spPr>
          <a:xfrm>
            <a:off x="822960" y="2148840"/>
            <a:ext cx="3383280" cy="411480"/>
          </a:xfrm>
          <a:prstGeom prst="rect">
            <a:avLst/>
          </a:prstGeom>
          <a:noFill/>
          <a:ln/>
        </p:spPr>
        <p:txBody>
          <a:bodyPr wrap="square" lIns="0" tIns="0" rIns="0" bIns="0" rtlCol="0" anchor="ctr"/>
          <a:lstStyle/>
          <a:p>
            <a:pPr marL="0" indent="0">
              <a:buNone/>
            </a:pPr>
            <a:r>
              <a:rPr lang="en-US" sz="1100" dirty="0">
                <a:solidFill>
                  <a:srgbClr val="8ED99F"/>
                </a:solidFill>
                <a:latin typeface="Calibri" pitchFamily="34" charset="0"/>
                <a:ea typeface="Calibri" pitchFamily="34" charset="-122"/>
                <a:cs typeface="Calibri" pitchFamily="34" charset="-120"/>
              </a:rPr>
              <a:t>React 19 + TypeScript + Vite 7</a:t>
            </a:r>
            <a:endParaRPr lang="en-US" sz="1100" dirty="0"/>
          </a:p>
        </p:txBody>
      </p:sp>
      <p:sp>
        <p:nvSpPr>
          <p:cNvPr id="10" name="Shape 7"/>
          <p:cNvSpPr/>
          <p:nvPr/>
        </p:nvSpPr>
        <p:spPr>
          <a:xfrm>
            <a:off x="594360" y="2706624"/>
            <a:ext cx="128016" cy="128016"/>
          </a:xfrm>
          <a:prstGeom prst="ellipse">
            <a:avLst/>
          </a:prstGeom>
          <a:solidFill>
            <a:srgbClr val="4CAF65"/>
          </a:solidFill>
          <a:ln w="12700">
            <a:solidFill>
              <a:srgbClr val="4CAF65"/>
            </a:solidFill>
            <a:prstDash val="solid"/>
          </a:ln>
        </p:spPr>
        <p:txBody>
          <a:bodyPr/>
          <a:lstStyle/>
          <a:p>
            <a:endParaRPr lang="es-ES"/>
          </a:p>
        </p:txBody>
      </p:sp>
      <p:sp>
        <p:nvSpPr>
          <p:cNvPr id="11" name="Text 8"/>
          <p:cNvSpPr/>
          <p:nvPr/>
        </p:nvSpPr>
        <p:spPr>
          <a:xfrm>
            <a:off x="822960" y="2642616"/>
            <a:ext cx="3383280" cy="411480"/>
          </a:xfrm>
          <a:prstGeom prst="rect">
            <a:avLst/>
          </a:prstGeom>
          <a:noFill/>
          <a:ln/>
        </p:spPr>
        <p:txBody>
          <a:bodyPr wrap="square" lIns="0" tIns="0" rIns="0" bIns="0" rtlCol="0" anchor="ctr"/>
          <a:lstStyle/>
          <a:p>
            <a:pPr marL="0" indent="0">
              <a:buNone/>
            </a:pPr>
            <a:r>
              <a:rPr lang="en-US" sz="1100" dirty="0">
                <a:solidFill>
                  <a:srgbClr val="8ED99F"/>
                </a:solidFill>
                <a:latin typeface="Calibri" pitchFamily="34" charset="0"/>
                <a:ea typeface="Calibri" pitchFamily="34" charset="-122"/>
                <a:cs typeface="Calibri" pitchFamily="34" charset="-120"/>
              </a:rPr>
              <a:t>React Router DOM 7 (rutas protegidas)</a:t>
            </a:r>
            <a:endParaRPr lang="en-US" sz="1100" dirty="0"/>
          </a:p>
        </p:txBody>
      </p:sp>
      <p:sp>
        <p:nvSpPr>
          <p:cNvPr id="12" name="Shape 9"/>
          <p:cNvSpPr/>
          <p:nvPr/>
        </p:nvSpPr>
        <p:spPr>
          <a:xfrm>
            <a:off x="594360" y="3200400"/>
            <a:ext cx="128016" cy="128016"/>
          </a:xfrm>
          <a:prstGeom prst="ellipse">
            <a:avLst/>
          </a:prstGeom>
          <a:solidFill>
            <a:srgbClr val="4CAF65"/>
          </a:solidFill>
          <a:ln w="12700">
            <a:solidFill>
              <a:srgbClr val="4CAF65"/>
            </a:solidFill>
            <a:prstDash val="solid"/>
          </a:ln>
        </p:spPr>
        <p:txBody>
          <a:bodyPr/>
          <a:lstStyle/>
          <a:p>
            <a:endParaRPr lang="es-ES"/>
          </a:p>
        </p:txBody>
      </p:sp>
      <p:sp>
        <p:nvSpPr>
          <p:cNvPr id="13" name="Text 10"/>
          <p:cNvSpPr/>
          <p:nvPr/>
        </p:nvSpPr>
        <p:spPr>
          <a:xfrm>
            <a:off x="822960" y="3136392"/>
            <a:ext cx="3383280" cy="411480"/>
          </a:xfrm>
          <a:prstGeom prst="rect">
            <a:avLst/>
          </a:prstGeom>
          <a:noFill/>
          <a:ln/>
        </p:spPr>
        <p:txBody>
          <a:bodyPr wrap="square" lIns="0" tIns="0" rIns="0" bIns="0" rtlCol="0" anchor="ctr"/>
          <a:lstStyle/>
          <a:p>
            <a:pPr marL="0" indent="0">
              <a:buNone/>
            </a:pPr>
            <a:r>
              <a:rPr lang="en-US" sz="1100" dirty="0">
                <a:solidFill>
                  <a:srgbClr val="8ED99F"/>
                </a:solidFill>
                <a:latin typeface="Calibri" pitchFamily="34" charset="0"/>
                <a:ea typeface="Calibri" pitchFamily="34" charset="-122"/>
                <a:cs typeface="Calibri" pitchFamily="34" charset="-120"/>
              </a:rPr>
              <a:t>Axios – cliente HTTP</a:t>
            </a:r>
            <a:endParaRPr lang="en-US" sz="1100" dirty="0"/>
          </a:p>
        </p:txBody>
      </p:sp>
      <p:sp>
        <p:nvSpPr>
          <p:cNvPr id="14" name="Shape 11"/>
          <p:cNvSpPr/>
          <p:nvPr/>
        </p:nvSpPr>
        <p:spPr>
          <a:xfrm>
            <a:off x="594360" y="3694176"/>
            <a:ext cx="128016" cy="128016"/>
          </a:xfrm>
          <a:prstGeom prst="ellipse">
            <a:avLst/>
          </a:prstGeom>
          <a:solidFill>
            <a:srgbClr val="4CAF65"/>
          </a:solidFill>
          <a:ln w="12700">
            <a:solidFill>
              <a:srgbClr val="4CAF65"/>
            </a:solidFill>
            <a:prstDash val="solid"/>
          </a:ln>
        </p:spPr>
        <p:txBody>
          <a:bodyPr/>
          <a:lstStyle/>
          <a:p>
            <a:endParaRPr lang="es-ES"/>
          </a:p>
        </p:txBody>
      </p:sp>
      <p:sp>
        <p:nvSpPr>
          <p:cNvPr id="15" name="Text 12"/>
          <p:cNvSpPr/>
          <p:nvPr/>
        </p:nvSpPr>
        <p:spPr>
          <a:xfrm>
            <a:off x="822960" y="3630168"/>
            <a:ext cx="3383280" cy="411480"/>
          </a:xfrm>
          <a:prstGeom prst="rect">
            <a:avLst/>
          </a:prstGeom>
          <a:noFill/>
          <a:ln/>
        </p:spPr>
        <p:txBody>
          <a:bodyPr wrap="square" lIns="0" tIns="0" rIns="0" bIns="0" rtlCol="0" anchor="ctr"/>
          <a:lstStyle/>
          <a:p>
            <a:pPr marL="0" indent="0">
              <a:buNone/>
            </a:pPr>
            <a:r>
              <a:rPr lang="en-US" sz="1100" dirty="0">
                <a:solidFill>
                  <a:srgbClr val="8ED99F"/>
                </a:solidFill>
                <a:latin typeface="Calibri" pitchFamily="34" charset="0"/>
                <a:ea typeface="Calibri" pitchFamily="34" charset="-122"/>
                <a:cs typeface="Calibri" pitchFamily="34" charset="-120"/>
              </a:rPr>
              <a:t>Internacionalización propia (ES / EN)</a:t>
            </a:r>
            <a:endParaRPr lang="en-US" sz="1100" dirty="0"/>
          </a:p>
        </p:txBody>
      </p:sp>
      <p:sp>
        <p:nvSpPr>
          <p:cNvPr id="16" name="Shape 13"/>
          <p:cNvSpPr/>
          <p:nvPr/>
        </p:nvSpPr>
        <p:spPr>
          <a:xfrm>
            <a:off x="594360" y="4187952"/>
            <a:ext cx="128016" cy="128016"/>
          </a:xfrm>
          <a:prstGeom prst="ellipse">
            <a:avLst/>
          </a:prstGeom>
          <a:solidFill>
            <a:srgbClr val="4CAF65"/>
          </a:solidFill>
          <a:ln w="12700">
            <a:solidFill>
              <a:srgbClr val="4CAF65"/>
            </a:solidFill>
            <a:prstDash val="solid"/>
          </a:ln>
        </p:spPr>
        <p:txBody>
          <a:bodyPr/>
          <a:lstStyle/>
          <a:p>
            <a:endParaRPr lang="es-ES"/>
          </a:p>
        </p:txBody>
      </p:sp>
      <p:sp>
        <p:nvSpPr>
          <p:cNvPr id="17" name="Text 14"/>
          <p:cNvSpPr/>
          <p:nvPr/>
        </p:nvSpPr>
        <p:spPr>
          <a:xfrm>
            <a:off x="822960" y="4123944"/>
            <a:ext cx="3383280" cy="411480"/>
          </a:xfrm>
          <a:prstGeom prst="rect">
            <a:avLst/>
          </a:prstGeom>
          <a:noFill/>
          <a:ln/>
        </p:spPr>
        <p:txBody>
          <a:bodyPr wrap="square" lIns="0" tIns="0" rIns="0" bIns="0" rtlCol="0" anchor="ctr"/>
          <a:lstStyle/>
          <a:p>
            <a:pPr marL="0" indent="0">
              <a:buNone/>
            </a:pPr>
            <a:r>
              <a:rPr lang="en-US" sz="1100" dirty="0">
                <a:solidFill>
                  <a:srgbClr val="8ED99F"/>
                </a:solidFill>
                <a:latin typeface="Calibri" pitchFamily="34" charset="0"/>
                <a:ea typeface="Calibri" pitchFamily="34" charset="-122"/>
                <a:cs typeface="Calibri" pitchFamily="34" charset="-120"/>
              </a:rPr>
              <a:t>Rutas protegidas por rol (PrivateRoute)</a:t>
            </a:r>
            <a:endParaRPr lang="en-US" sz="1100" dirty="0"/>
          </a:p>
        </p:txBody>
      </p:sp>
      <p:sp>
        <p:nvSpPr>
          <p:cNvPr id="18" name="Shape 15"/>
          <p:cNvSpPr/>
          <p:nvPr/>
        </p:nvSpPr>
        <p:spPr>
          <a:xfrm>
            <a:off x="4754880" y="1371600"/>
            <a:ext cx="4023360" cy="3474720"/>
          </a:xfrm>
          <a:prstGeom prst="rect">
            <a:avLst/>
          </a:prstGeom>
          <a:solidFill>
            <a:srgbClr val="1A3320"/>
          </a:solidFill>
          <a:ln w="25400">
            <a:solidFill>
              <a:srgbClr val="D4A843"/>
            </a:solidFill>
            <a:prstDash val="solid"/>
          </a:ln>
        </p:spPr>
        <p:txBody>
          <a:bodyPr/>
          <a:lstStyle/>
          <a:p>
            <a:endParaRPr lang="es-ES"/>
          </a:p>
        </p:txBody>
      </p:sp>
      <p:sp>
        <p:nvSpPr>
          <p:cNvPr id="19" name="Shape 16"/>
          <p:cNvSpPr/>
          <p:nvPr/>
        </p:nvSpPr>
        <p:spPr>
          <a:xfrm>
            <a:off x="4754880" y="1371600"/>
            <a:ext cx="4023360" cy="64008"/>
          </a:xfrm>
          <a:prstGeom prst="rect">
            <a:avLst/>
          </a:prstGeom>
          <a:solidFill>
            <a:srgbClr val="D4A843"/>
          </a:solidFill>
          <a:ln w="12700">
            <a:solidFill>
              <a:srgbClr val="D4A843"/>
            </a:solidFill>
            <a:prstDash val="solid"/>
          </a:ln>
        </p:spPr>
        <p:txBody>
          <a:bodyPr/>
          <a:lstStyle/>
          <a:p>
            <a:endParaRPr lang="es-ES"/>
          </a:p>
        </p:txBody>
      </p:sp>
      <p:pic>
        <p:nvPicPr>
          <p:cNvPr id="20" name="Image 1" descr="preencoded.png"/>
          <p:cNvPicPr>
            <a:picLocks noChangeAspect="1"/>
          </p:cNvPicPr>
          <p:nvPr/>
        </p:nvPicPr>
        <p:blipFill>
          <a:blip r:embed="rId4"/>
          <a:stretch>
            <a:fillRect/>
          </a:stretch>
        </p:blipFill>
        <p:spPr>
          <a:xfrm>
            <a:off x="4937760" y="1508760"/>
            <a:ext cx="502920" cy="502920"/>
          </a:xfrm>
          <a:prstGeom prst="rect">
            <a:avLst/>
          </a:prstGeom>
        </p:spPr>
      </p:pic>
      <p:sp>
        <p:nvSpPr>
          <p:cNvPr id="21" name="Text 17"/>
          <p:cNvSpPr/>
          <p:nvPr/>
        </p:nvSpPr>
        <p:spPr>
          <a:xfrm>
            <a:off x="5532120" y="1508760"/>
            <a:ext cx="3017520" cy="502920"/>
          </a:xfrm>
          <a:prstGeom prst="rect">
            <a:avLst/>
          </a:prstGeom>
          <a:noFill/>
          <a:ln/>
        </p:spPr>
        <p:txBody>
          <a:bodyPr wrap="square" lIns="0" tIns="0" rIns="0" bIns="0" rtlCol="0" anchor="ctr"/>
          <a:lstStyle/>
          <a:p>
            <a:pPr marL="0" indent="0">
              <a:buNone/>
            </a:pPr>
            <a:r>
              <a:rPr lang="en-US" sz="1800" b="1" dirty="0">
                <a:solidFill>
                  <a:srgbClr val="D4A843"/>
                </a:solidFill>
                <a:latin typeface="Georgia" pitchFamily="34" charset="0"/>
                <a:ea typeface="Georgia" pitchFamily="34" charset="-122"/>
                <a:cs typeface="Georgia" pitchFamily="34" charset="-120"/>
              </a:rPr>
              <a:t>Backend</a:t>
            </a:r>
            <a:endParaRPr lang="en-US" sz="1800" dirty="0"/>
          </a:p>
        </p:txBody>
      </p:sp>
      <p:sp>
        <p:nvSpPr>
          <p:cNvPr id="22" name="Shape 18"/>
          <p:cNvSpPr/>
          <p:nvPr/>
        </p:nvSpPr>
        <p:spPr>
          <a:xfrm>
            <a:off x="4983480" y="2212848"/>
            <a:ext cx="128016" cy="128016"/>
          </a:xfrm>
          <a:prstGeom prst="ellipse">
            <a:avLst/>
          </a:prstGeom>
          <a:solidFill>
            <a:srgbClr val="D4A843"/>
          </a:solidFill>
          <a:ln w="12700">
            <a:solidFill>
              <a:srgbClr val="D4A843"/>
            </a:solidFill>
            <a:prstDash val="solid"/>
          </a:ln>
        </p:spPr>
        <p:txBody>
          <a:bodyPr/>
          <a:lstStyle/>
          <a:p>
            <a:endParaRPr lang="es-ES"/>
          </a:p>
        </p:txBody>
      </p:sp>
      <p:sp>
        <p:nvSpPr>
          <p:cNvPr id="23" name="Text 19"/>
          <p:cNvSpPr/>
          <p:nvPr/>
        </p:nvSpPr>
        <p:spPr>
          <a:xfrm>
            <a:off x="5212080" y="2148840"/>
            <a:ext cx="3383280" cy="411480"/>
          </a:xfrm>
          <a:prstGeom prst="rect">
            <a:avLst/>
          </a:prstGeom>
          <a:noFill/>
          <a:ln/>
        </p:spPr>
        <p:txBody>
          <a:bodyPr wrap="square" lIns="0" tIns="0" rIns="0" bIns="0" rtlCol="0" anchor="ctr"/>
          <a:lstStyle/>
          <a:p>
            <a:pPr marL="0" indent="0">
              <a:buNone/>
            </a:pPr>
            <a:r>
              <a:rPr lang="en-US" sz="1100" dirty="0">
                <a:solidFill>
                  <a:srgbClr val="8ED99F"/>
                </a:solidFill>
                <a:latin typeface="Calibri" pitchFamily="34" charset="0"/>
                <a:ea typeface="Calibri" pitchFamily="34" charset="-122"/>
                <a:cs typeface="Calibri" pitchFamily="34" charset="-120"/>
              </a:rPr>
              <a:t>Java 21 + Spring Boot 3.2.2</a:t>
            </a:r>
            <a:endParaRPr lang="en-US" sz="1100" dirty="0"/>
          </a:p>
        </p:txBody>
      </p:sp>
      <p:sp>
        <p:nvSpPr>
          <p:cNvPr id="24" name="Shape 20"/>
          <p:cNvSpPr/>
          <p:nvPr/>
        </p:nvSpPr>
        <p:spPr>
          <a:xfrm>
            <a:off x="4983480" y="2706624"/>
            <a:ext cx="128016" cy="128016"/>
          </a:xfrm>
          <a:prstGeom prst="ellipse">
            <a:avLst/>
          </a:prstGeom>
          <a:solidFill>
            <a:srgbClr val="D4A843"/>
          </a:solidFill>
          <a:ln w="12700">
            <a:solidFill>
              <a:srgbClr val="D4A843"/>
            </a:solidFill>
            <a:prstDash val="solid"/>
          </a:ln>
        </p:spPr>
        <p:txBody>
          <a:bodyPr/>
          <a:lstStyle/>
          <a:p>
            <a:endParaRPr lang="es-ES"/>
          </a:p>
        </p:txBody>
      </p:sp>
      <p:sp>
        <p:nvSpPr>
          <p:cNvPr id="25" name="Text 21"/>
          <p:cNvSpPr/>
          <p:nvPr/>
        </p:nvSpPr>
        <p:spPr>
          <a:xfrm>
            <a:off x="5212080" y="2642616"/>
            <a:ext cx="3383280" cy="411480"/>
          </a:xfrm>
          <a:prstGeom prst="rect">
            <a:avLst/>
          </a:prstGeom>
          <a:noFill/>
          <a:ln/>
        </p:spPr>
        <p:txBody>
          <a:bodyPr wrap="square" lIns="0" tIns="0" rIns="0" bIns="0" rtlCol="0" anchor="ctr"/>
          <a:lstStyle/>
          <a:p>
            <a:pPr marL="0" indent="0">
              <a:buNone/>
            </a:pPr>
            <a:r>
              <a:rPr lang="en-US" sz="1100" dirty="0">
                <a:solidFill>
                  <a:srgbClr val="8ED99F"/>
                </a:solidFill>
                <a:latin typeface="Calibri" pitchFamily="34" charset="0"/>
                <a:ea typeface="Calibri" pitchFamily="34" charset="-122"/>
                <a:cs typeface="Calibri" pitchFamily="34" charset="-120"/>
              </a:rPr>
              <a:t>Spring Web REST + JPA + Hibernate</a:t>
            </a:r>
            <a:endParaRPr lang="en-US" sz="1100" dirty="0"/>
          </a:p>
        </p:txBody>
      </p:sp>
      <p:sp>
        <p:nvSpPr>
          <p:cNvPr id="26" name="Shape 22"/>
          <p:cNvSpPr/>
          <p:nvPr/>
        </p:nvSpPr>
        <p:spPr>
          <a:xfrm>
            <a:off x="4983480" y="3200400"/>
            <a:ext cx="128016" cy="128016"/>
          </a:xfrm>
          <a:prstGeom prst="ellipse">
            <a:avLst/>
          </a:prstGeom>
          <a:solidFill>
            <a:srgbClr val="D4A843"/>
          </a:solidFill>
          <a:ln w="12700">
            <a:solidFill>
              <a:srgbClr val="D4A843"/>
            </a:solidFill>
            <a:prstDash val="solid"/>
          </a:ln>
        </p:spPr>
        <p:txBody>
          <a:bodyPr/>
          <a:lstStyle/>
          <a:p>
            <a:endParaRPr lang="es-ES"/>
          </a:p>
        </p:txBody>
      </p:sp>
      <p:sp>
        <p:nvSpPr>
          <p:cNvPr id="27" name="Text 23"/>
          <p:cNvSpPr/>
          <p:nvPr/>
        </p:nvSpPr>
        <p:spPr>
          <a:xfrm>
            <a:off x="5212080" y="3136392"/>
            <a:ext cx="3383280" cy="411480"/>
          </a:xfrm>
          <a:prstGeom prst="rect">
            <a:avLst/>
          </a:prstGeom>
          <a:noFill/>
          <a:ln/>
        </p:spPr>
        <p:txBody>
          <a:bodyPr wrap="square" lIns="0" tIns="0" rIns="0" bIns="0" rtlCol="0" anchor="ctr"/>
          <a:lstStyle/>
          <a:p>
            <a:pPr marL="0" indent="0">
              <a:buNone/>
            </a:pPr>
            <a:r>
              <a:rPr lang="en-US" sz="1100" dirty="0">
                <a:solidFill>
                  <a:srgbClr val="8ED99F"/>
                </a:solidFill>
                <a:latin typeface="Calibri" pitchFamily="34" charset="0"/>
                <a:ea typeface="Calibri" pitchFamily="34" charset="-122"/>
                <a:cs typeface="Calibri" pitchFamily="34" charset="-120"/>
              </a:rPr>
              <a:t>Spring Security + JWT + BCrypt</a:t>
            </a:r>
            <a:endParaRPr lang="en-US" sz="1100" dirty="0"/>
          </a:p>
        </p:txBody>
      </p:sp>
      <p:sp>
        <p:nvSpPr>
          <p:cNvPr id="28" name="Shape 24"/>
          <p:cNvSpPr/>
          <p:nvPr/>
        </p:nvSpPr>
        <p:spPr>
          <a:xfrm>
            <a:off x="4983480" y="3694176"/>
            <a:ext cx="128016" cy="128016"/>
          </a:xfrm>
          <a:prstGeom prst="ellipse">
            <a:avLst/>
          </a:prstGeom>
          <a:solidFill>
            <a:srgbClr val="D4A843"/>
          </a:solidFill>
          <a:ln w="12700">
            <a:solidFill>
              <a:srgbClr val="D4A843"/>
            </a:solidFill>
            <a:prstDash val="solid"/>
          </a:ln>
        </p:spPr>
        <p:txBody>
          <a:bodyPr/>
          <a:lstStyle/>
          <a:p>
            <a:endParaRPr lang="es-ES"/>
          </a:p>
        </p:txBody>
      </p:sp>
      <p:sp>
        <p:nvSpPr>
          <p:cNvPr id="29" name="Text 25"/>
          <p:cNvSpPr/>
          <p:nvPr/>
        </p:nvSpPr>
        <p:spPr>
          <a:xfrm>
            <a:off x="5212080" y="3630168"/>
            <a:ext cx="3383280" cy="411480"/>
          </a:xfrm>
          <a:prstGeom prst="rect">
            <a:avLst/>
          </a:prstGeom>
          <a:noFill/>
          <a:ln/>
        </p:spPr>
        <p:txBody>
          <a:bodyPr wrap="square" lIns="0" tIns="0" rIns="0" bIns="0" rtlCol="0" anchor="ctr"/>
          <a:lstStyle/>
          <a:p>
            <a:pPr marL="0" indent="0">
              <a:buNone/>
            </a:pPr>
            <a:r>
              <a:rPr lang="en-US" sz="1100" dirty="0">
                <a:solidFill>
                  <a:srgbClr val="8ED99F"/>
                </a:solidFill>
                <a:latin typeface="Calibri" pitchFamily="34" charset="0"/>
                <a:ea typeface="Calibri" pitchFamily="34" charset="-122"/>
                <a:cs typeface="Calibri" pitchFamily="34" charset="-120"/>
              </a:rPr>
              <a:t>Spring Cloud Config (centralizado)</a:t>
            </a:r>
            <a:endParaRPr lang="en-US" sz="1100" dirty="0"/>
          </a:p>
        </p:txBody>
      </p:sp>
      <p:sp>
        <p:nvSpPr>
          <p:cNvPr id="30" name="Shape 26"/>
          <p:cNvSpPr/>
          <p:nvPr/>
        </p:nvSpPr>
        <p:spPr>
          <a:xfrm>
            <a:off x="4983480" y="4187952"/>
            <a:ext cx="128016" cy="128016"/>
          </a:xfrm>
          <a:prstGeom prst="ellipse">
            <a:avLst/>
          </a:prstGeom>
          <a:solidFill>
            <a:srgbClr val="D4A843"/>
          </a:solidFill>
          <a:ln w="12700">
            <a:solidFill>
              <a:srgbClr val="D4A843"/>
            </a:solidFill>
            <a:prstDash val="solid"/>
          </a:ln>
        </p:spPr>
        <p:txBody>
          <a:bodyPr/>
          <a:lstStyle/>
          <a:p>
            <a:endParaRPr lang="es-ES"/>
          </a:p>
        </p:txBody>
      </p:sp>
      <p:sp>
        <p:nvSpPr>
          <p:cNvPr id="31" name="Text 27"/>
          <p:cNvSpPr/>
          <p:nvPr/>
        </p:nvSpPr>
        <p:spPr>
          <a:xfrm>
            <a:off x="5212080" y="4123944"/>
            <a:ext cx="3383280" cy="411480"/>
          </a:xfrm>
          <a:prstGeom prst="rect">
            <a:avLst/>
          </a:prstGeom>
          <a:noFill/>
          <a:ln/>
        </p:spPr>
        <p:txBody>
          <a:bodyPr wrap="square" lIns="0" tIns="0" rIns="0" bIns="0" rtlCol="0" anchor="ctr"/>
          <a:lstStyle/>
          <a:p>
            <a:pPr marL="0" indent="0">
              <a:buNone/>
            </a:pPr>
            <a:r>
              <a:rPr lang="en-US" sz="1100" dirty="0">
                <a:solidFill>
                  <a:srgbClr val="8ED99F"/>
                </a:solidFill>
                <a:latin typeface="Calibri" pitchFamily="34" charset="0"/>
                <a:ea typeface="Calibri" pitchFamily="34" charset="-122"/>
                <a:cs typeface="Calibri" pitchFamily="34" charset="-120"/>
              </a:rPr>
              <a:t>Bean Validation + Lombok + Swagger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9F4"/>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D4A843"/>
          </a:solidFill>
          <a:ln w="12700">
            <a:solidFill>
              <a:srgbClr val="D4A843"/>
            </a:solidFill>
            <a:prstDash val="solid"/>
          </a:ln>
        </p:spPr>
        <p:txBody>
          <a:bodyPr/>
          <a:lstStyle/>
          <a:p>
            <a:endParaRPr lang="es-ES"/>
          </a:p>
        </p:txBody>
      </p:sp>
      <p:sp>
        <p:nvSpPr>
          <p:cNvPr id="3" name="Text 1"/>
          <p:cNvSpPr/>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0D1F0F"/>
                </a:solidFill>
                <a:latin typeface="Georgia" pitchFamily="34" charset="0"/>
                <a:ea typeface="Georgia" pitchFamily="34" charset="-122"/>
                <a:cs typeface="Georgia" pitchFamily="34" charset="-120"/>
              </a:rPr>
              <a:t>Infraestructura &amp; DevOps</a:t>
            </a:r>
            <a:endParaRPr lang="en-US" sz="3200" dirty="0"/>
          </a:p>
        </p:txBody>
      </p:sp>
      <p:sp>
        <p:nvSpPr>
          <p:cNvPr id="4" name="Shape 2"/>
          <p:cNvSpPr/>
          <p:nvPr/>
        </p:nvSpPr>
        <p:spPr>
          <a:xfrm>
            <a:off x="365760" y="1051560"/>
            <a:ext cx="2606040" cy="178308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5" name="Shape 3"/>
          <p:cNvSpPr/>
          <p:nvPr/>
        </p:nvSpPr>
        <p:spPr>
          <a:xfrm>
            <a:off x="1321308" y="1216152"/>
            <a:ext cx="694944" cy="694944"/>
          </a:xfrm>
          <a:prstGeom prst="ellipse">
            <a:avLst/>
          </a:prstGeom>
          <a:solidFill>
            <a:srgbClr val="2C7A3E"/>
          </a:solidFill>
          <a:ln w="12700">
            <a:solidFill>
              <a:srgbClr val="2C7A3E"/>
            </a:solidFill>
            <a:prstDash val="solid"/>
          </a:ln>
        </p:spPr>
        <p:txBody>
          <a:bodyPr/>
          <a:lstStyle/>
          <a:p>
            <a:endParaRPr lang="es-ES"/>
          </a:p>
        </p:txBody>
      </p:sp>
      <p:pic>
        <p:nvPicPr>
          <p:cNvPr id="6" name="Image 0" descr="preencoded.png"/>
          <p:cNvPicPr>
            <a:picLocks noChangeAspect="1"/>
          </p:cNvPicPr>
          <p:nvPr/>
        </p:nvPicPr>
        <p:blipFill>
          <a:blip r:embed="rId3"/>
          <a:stretch>
            <a:fillRect/>
          </a:stretch>
        </p:blipFill>
        <p:spPr>
          <a:xfrm>
            <a:off x="1394460" y="1289304"/>
            <a:ext cx="548640" cy="548640"/>
          </a:xfrm>
          <a:prstGeom prst="rect">
            <a:avLst/>
          </a:prstGeom>
        </p:spPr>
      </p:pic>
      <p:sp>
        <p:nvSpPr>
          <p:cNvPr id="7" name="Text 4"/>
          <p:cNvSpPr/>
          <p:nvPr/>
        </p:nvSpPr>
        <p:spPr>
          <a:xfrm>
            <a:off x="457200" y="1965960"/>
            <a:ext cx="2423160" cy="320040"/>
          </a:xfrm>
          <a:prstGeom prst="rect">
            <a:avLst/>
          </a:prstGeom>
          <a:noFill/>
          <a:ln/>
        </p:spPr>
        <p:txBody>
          <a:bodyPr wrap="square" lIns="0" tIns="0" rIns="0" bIns="0" rtlCol="0" anchor="ctr"/>
          <a:lstStyle/>
          <a:p>
            <a:pPr marL="0" indent="0" algn="ctr">
              <a:buNone/>
            </a:pPr>
            <a:r>
              <a:rPr lang="en-US" sz="1200" b="1" dirty="0">
                <a:solidFill>
                  <a:srgbClr val="0D1F0F"/>
                </a:solidFill>
                <a:latin typeface="Georgia" pitchFamily="34" charset="0"/>
                <a:ea typeface="Georgia" pitchFamily="34" charset="-122"/>
                <a:cs typeface="Georgia" pitchFamily="34" charset="-120"/>
              </a:rPr>
              <a:t>Docker</a:t>
            </a:r>
            <a:endParaRPr lang="en-US" sz="1200" dirty="0"/>
          </a:p>
        </p:txBody>
      </p:sp>
      <p:sp>
        <p:nvSpPr>
          <p:cNvPr id="8" name="Text 5"/>
          <p:cNvSpPr/>
          <p:nvPr/>
        </p:nvSpPr>
        <p:spPr>
          <a:xfrm>
            <a:off x="457200" y="2286000"/>
            <a:ext cx="2423160" cy="502920"/>
          </a:xfrm>
          <a:prstGeom prst="rect">
            <a:avLst/>
          </a:prstGeom>
          <a:noFill/>
          <a:ln/>
        </p:spPr>
        <p:txBody>
          <a:bodyPr wrap="square" lIns="0" tIns="0" rIns="0" bIns="0" rtlCol="0" anchor="ctr"/>
          <a:lstStyle/>
          <a:p>
            <a:pPr marL="0" indent="0" algn="ctr">
              <a:buNone/>
            </a:pPr>
            <a:r>
              <a:rPr lang="en-US" sz="950" dirty="0">
                <a:solidFill>
                  <a:srgbClr val="6B8F71"/>
                </a:solidFill>
                <a:latin typeface="Calibri" pitchFamily="34" charset="0"/>
                <a:ea typeface="Calibri" pitchFamily="34" charset="-122"/>
                <a:cs typeface="Calibri" pitchFamily="34" charset="-120"/>
              </a:rPr>
              <a:t>docker-compose para empaquetado</a:t>
            </a:r>
            <a:endParaRPr lang="en-US" sz="950" dirty="0"/>
          </a:p>
          <a:p>
            <a:pPr marL="0" indent="0" algn="ctr">
              <a:buNone/>
            </a:pPr>
            <a:r>
              <a:rPr lang="en-US" sz="950" dirty="0">
                <a:solidFill>
                  <a:srgbClr val="6B8F71"/>
                </a:solidFill>
                <a:latin typeface="Calibri" pitchFamily="34" charset="0"/>
                <a:ea typeface="Calibri" pitchFamily="34" charset="-122"/>
                <a:cs typeface="Calibri" pitchFamily="34" charset="-120"/>
              </a:rPr>
              <a:t>y orquestación de contenedores</a:t>
            </a:r>
            <a:endParaRPr lang="en-US" sz="950" dirty="0"/>
          </a:p>
        </p:txBody>
      </p:sp>
      <p:sp>
        <p:nvSpPr>
          <p:cNvPr id="9" name="Shape 6"/>
          <p:cNvSpPr/>
          <p:nvPr/>
        </p:nvSpPr>
        <p:spPr>
          <a:xfrm>
            <a:off x="2971800" y="1051560"/>
            <a:ext cx="2606040" cy="178308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10" name="Shape 7"/>
          <p:cNvSpPr/>
          <p:nvPr/>
        </p:nvSpPr>
        <p:spPr>
          <a:xfrm>
            <a:off x="3927348" y="1216152"/>
            <a:ext cx="694944" cy="694944"/>
          </a:xfrm>
          <a:prstGeom prst="ellipse">
            <a:avLst/>
          </a:prstGeom>
          <a:solidFill>
            <a:srgbClr val="D4A843"/>
          </a:solidFill>
          <a:ln w="12700">
            <a:solidFill>
              <a:srgbClr val="D4A843"/>
            </a:solidFill>
            <a:prstDash val="solid"/>
          </a:ln>
        </p:spPr>
        <p:txBody>
          <a:bodyPr/>
          <a:lstStyle/>
          <a:p>
            <a:endParaRPr lang="es-ES"/>
          </a:p>
        </p:txBody>
      </p:sp>
      <p:pic>
        <p:nvPicPr>
          <p:cNvPr id="11" name="Image 1" descr="preencoded.png"/>
          <p:cNvPicPr>
            <a:picLocks noChangeAspect="1"/>
          </p:cNvPicPr>
          <p:nvPr/>
        </p:nvPicPr>
        <p:blipFill>
          <a:blip r:embed="rId4"/>
          <a:stretch>
            <a:fillRect/>
          </a:stretch>
        </p:blipFill>
        <p:spPr>
          <a:xfrm>
            <a:off x="4000500" y="1289304"/>
            <a:ext cx="548640" cy="548640"/>
          </a:xfrm>
          <a:prstGeom prst="rect">
            <a:avLst/>
          </a:prstGeom>
        </p:spPr>
      </p:pic>
      <p:sp>
        <p:nvSpPr>
          <p:cNvPr id="12" name="Text 8"/>
          <p:cNvSpPr/>
          <p:nvPr/>
        </p:nvSpPr>
        <p:spPr>
          <a:xfrm>
            <a:off x="3063240" y="1965960"/>
            <a:ext cx="2423160" cy="320040"/>
          </a:xfrm>
          <a:prstGeom prst="rect">
            <a:avLst/>
          </a:prstGeom>
          <a:noFill/>
          <a:ln/>
        </p:spPr>
        <p:txBody>
          <a:bodyPr wrap="square" lIns="0" tIns="0" rIns="0" bIns="0" rtlCol="0" anchor="ctr"/>
          <a:lstStyle/>
          <a:p>
            <a:pPr marL="0" indent="0" algn="ctr">
              <a:buNone/>
            </a:pPr>
            <a:r>
              <a:rPr lang="en-US" sz="1200" b="1" dirty="0">
                <a:solidFill>
                  <a:srgbClr val="0D1F0F"/>
                </a:solidFill>
                <a:latin typeface="Georgia" pitchFamily="34" charset="0"/>
                <a:ea typeface="Georgia" pitchFamily="34" charset="-122"/>
                <a:cs typeface="Georgia" pitchFamily="34" charset="-120"/>
              </a:rPr>
              <a:t>AWS</a:t>
            </a:r>
            <a:endParaRPr lang="en-US" sz="1200" dirty="0"/>
          </a:p>
        </p:txBody>
      </p:sp>
      <p:sp>
        <p:nvSpPr>
          <p:cNvPr id="13" name="Text 9"/>
          <p:cNvSpPr/>
          <p:nvPr/>
        </p:nvSpPr>
        <p:spPr>
          <a:xfrm>
            <a:off x="3063240" y="2286000"/>
            <a:ext cx="2423160" cy="502920"/>
          </a:xfrm>
          <a:prstGeom prst="rect">
            <a:avLst/>
          </a:prstGeom>
          <a:noFill/>
          <a:ln/>
        </p:spPr>
        <p:txBody>
          <a:bodyPr wrap="square" lIns="0" tIns="0" rIns="0" bIns="0" rtlCol="0" anchor="ctr"/>
          <a:lstStyle/>
          <a:p>
            <a:pPr marL="0" indent="0" algn="ctr">
              <a:buNone/>
            </a:pPr>
            <a:r>
              <a:rPr lang="en-US" sz="950" dirty="0">
                <a:solidFill>
                  <a:srgbClr val="6B8F71"/>
                </a:solidFill>
                <a:latin typeface="Calibri" pitchFamily="34" charset="0"/>
                <a:ea typeface="Calibri" pitchFamily="34" charset="-122"/>
                <a:cs typeface="Calibri" pitchFamily="34" charset="-120"/>
              </a:rPr>
              <a:t>Despliegue en producción</a:t>
            </a:r>
            <a:endParaRPr lang="en-US" sz="950" dirty="0"/>
          </a:p>
          <a:p>
            <a:pPr marL="0" indent="0" algn="ctr">
              <a:buNone/>
            </a:pPr>
            <a:r>
              <a:rPr lang="en-US" sz="950" dirty="0">
                <a:solidFill>
                  <a:srgbClr val="6B8F71"/>
                </a:solidFill>
                <a:latin typeface="Calibri" pitchFamily="34" charset="0"/>
                <a:ea typeface="Calibri" pitchFamily="34" charset="-122"/>
                <a:cs typeface="Calibri" pitchFamily="34" charset="-120"/>
              </a:rPr>
              <a:t>en la nube de Amazon</a:t>
            </a:r>
            <a:endParaRPr lang="en-US" sz="950" dirty="0"/>
          </a:p>
        </p:txBody>
      </p:sp>
      <p:sp>
        <p:nvSpPr>
          <p:cNvPr id="14" name="Shape 10"/>
          <p:cNvSpPr/>
          <p:nvPr/>
        </p:nvSpPr>
        <p:spPr>
          <a:xfrm>
            <a:off x="5577840" y="1051560"/>
            <a:ext cx="2606040" cy="178308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15" name="Shape 11"/>
          <p:cNvSpPr/>
          <p:nvPr/>
        </p:nvSpPr>
        <p:spPr>
          <a:xfrm>
            <a:off x="6533388" y="1216152"/>
            <a:ext cx="694944" cy="694944"/>
          </a:xfrm>
          <a:prstGeom prst="ellipse">
            <a:avLst/>
          </a:prstGeom>
          <a:solidFill>
            <a:srgbClr val="0D1F0F"/>
          </a:solidFill>
          <a:ln w="12700">
            <a:solidFill>
              <a:srgbClr val="0D1F0F"/>
            </a:solidFill>
            <a:prstDash val="solid"/>
          </a:ln>
        </p:spPr>
        <p:txBody>
          <a:bodyPr/>
          <a:lstStyle/>
          <a:p>
            <a:endParaRPr lang="es-ES"/>
          </a:p>
        </p:txBody>
      </p:sp>
      <p:pic>
        <p:nvPicPr>
          <p:cNvPr id="16" name="Image 2" descr="preencoded.png"/>
          <p:cNvPicPr>
            <a:picLocks noChangeAspect="1"/>
          </p:cNvPicPr>
          <p:nvPr/>
        </p:nvPicPr>
        <p:blipFill>
          <a:blip r:embed="rId5"/>
          <a:stretch>
            <a:fillRect/>
          </a:stretch>
        </p:blipFill>
        <p:spPr>
          <a:xfrm>
            <a:off x="6606540" y="1289304"/>
            <a:ext cx="548640" cy="548640"/>
          </a:xfrm>
          <a:prstGeom prst="rect">
            <a:avLst/>
          </a:prstGeom>
        </p:spPr>
      </p:pic>
      <p:sp>
        <p:nvSpPr>
          <p:cNvPr id="17" name="Text 12"/>
          <p:cNvSpPr/>
          <p:nvPr/>
        </p:nvSpPr>
        <p:spPr>
          <a:xfrm>
            <a:off x="5669280" y="1965960"/>
            <a:ext cx="2423160" cy="320040"/>
          </a:xfrm>
          <a:prstGeom prst="rect">
            <a:avLst/>
          </a:prstGeom>
          <a:noFill/>
          <a:ln/>
        </p:spPr>
        <p:txBody>
          <a:bodyPr wrap="square" lIns="0" tIns="0" rIns="0" bIns="0" rtlCol="0" anchor="ctr"/>
          <a:lstStyle/>
          <a:p>
            <a:pPr marL="0" indent="0" algn="ctr">
              <a:buNone/>
            </a:pPr>
            <a:r>
              <a:rPr lang="en-US" sz="1200" b="1" dirty="0">
                <a:solidFill>
                  <a:srgbClr val="0D1F0F"/>
                </a:solidFill>
                <a:latin typeface="Georgia" pitchFamily="34" charset="0"/>
                <a:ea typeface="Georgia" pitchFamily="34" charset="-122"/>
                <a:cs typeface="Georgia" pitchFamily="34" charset="-120"/>
              </a:rPr>
              <a:t>GitHub</a:t>
            </a:r>
            <a:endParaRPr lang="en-US" sz="1200" dirty="0"/>
          </a:p>
        </p:txBody>
      </p:sp>
      <p:sp>
        <p:nvSpPr>
          <p:cNvPr id="18" name="Text 13"/>
          <p:cNvSpPr/>
          <p:nvPr/>
        </p:nvSpPr>
        <p:spPr>
          <a:xfrm>
            <a:off x="5669280" y="2286000"/>
            <a:ext cx="2423160" cy="502920"/>
          </a:xfrm>
          <a:prstGeom prst="rect">
            <a:avLst/>
          </a:prstGeom>
          <a:noFill/>
          <a:ln/>
        </p:spPr>
        <p:txBody>
          <a:bodyPr wrap="square" lIns="0" tIns="0" rIns="0" bIns="0" rtlCol="0" anchor="ctr"/>
          <a:lstStyle/>
          <a:p>
            <a:pPr marL="0" indent="0" algn="ctr">
              <a:buNone/>
            </a:pPr>
            <a:r>
              <a:rPr lang="en-US" sz="950" dirty="0">
                <a:solidFill>
                  <a:srgbClr val="6B8F71"/>
                </a:solidFill>
                <a:latin typeface="Calibri" pitchFamily="34" charset="0"/>
                <a:ea typeface="Calibri" pitchFamily="34" charset="-122"/>
                <a:cs typeface="Calibri" pitchFamily="34" charset="-120"/>
              </a:rPr>
              <a:t>Control de versiones</a:t>
            </a:r>
            <a:endParaRPr lang="en-US" sz="950" dirty="0"/>
          </a:p>
          <a:p>
            <a:pPr marL="0" indent="0" algn="ctr">
              <a:buNone/>
            </a:pPr>
            <a:r>
              <a:rPr lang="en-US" sz="950" dirty="0">
                <a:solidFill>
                  <a:srgbClr val="6B8F71"/>
                </a:solidFill>
                <a:latin typeface="Calibri" pitchFamily="34" charset="0"/>
                <a:ea typeface="Calibri" pitchFamily="34" charset="-122"/>
                <a:cs typeface="Calibri" pitchFamily="34" charset="-120"/>
              </a:rPr>
              <a:t>main/develop + Pull Requests</a:t>
            </a:r>
            <a:endParaRPr lang="en-US" sz="950" dirty="0"/>
          </a:p>
        </p:txBody>
      </p:sp>
      <p:sp>
        <p:nvSpPr>
          <p:cNvPr id="19" name="Shape 14"/>
          <p:cNvSpPr/>
          <p:nvPr/>
        </p:nvSpPr>
        <p:spPr>
          <a:xfrm>
            <a:off x="1668780" y="3063240"/>
            <a:ext cx="2606040" cy="178308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20" name="Shape 15"/>
          <p:cNvSpPr/>
          <p:nvPr/>
        </p:nvSpPr>
        <p:spPr>
          <a:xfrm>
            <a:off x="2624328" y="3227832"/>
            <a:ext cx="694944" cy="694944"/>
          </a:xfrm>
          <a:prstGeom prst="ellipse">
            <a:avLst/>
          </a:prstGeom>
          <a:solidFill>
            <a:srgbClr val="4CAF65"/>
          </a:solidFill>
          <a:ln w="12700">
            <a:solidFill>
              <a:srgbClr val="4CAF65"/>
            </a:solidFill>
            <a:prstDash val="solid"/>
          </a:ln>
        </p:spPr>
        <p:txBody>
          <a:bodyPr/>
          <a:lstStyle/>
          <a:p>
            <a:endParaRPr lang="es-ES"/>
          </a:p>
        </p:txBody>
      </p:sp>
      <p:pic>
        <p:nvPicPr>
          <p:cNvPr id="21" name="Image 3" descr="preencoded.png"/>
          <p:cNvPicPr>
            <a:picLocks noChangeAspect="1"/>
          </p:cNvPicPr>
          <p:nvPr/>
        </p:nvPicPr>
        <p:blipFill>
          <a:blip r:embed="rId6"/>
          <a:stretch>
            <a:fillRect/>
          </a:stretch>
        </p:blipFill>
        <p:spPr>
          <a:xfrm>
            <a:off x="2697480" y="3300984"/>
            <a:ext cx="548640" cy="548640"/>
          </a:xfrm>
          <a:prstGeom prst="rect">
            <a:avLst/>
          </a:prstGeom>
        </p:spPr>
      </p:pic>
      <p:sp>
        <p:nvSpPr>
          <p:cNvPr id="22" name="Text 16"/>
          <p:cNvSpPr/>
          <p:nvPr/>
        </p:nvSpPr>
        <p:spPr>
          <a:xfrm>
            <a:off x="1760220" y="3977640"/>
            <a:ext cx="2423160" cy="320040"/>
          </a:xfrm>
          <a:prstGeom prst="rect">
            <a:avLst/>
          </a:prstGeom>
          <a:noFill/>
          <a:ln/>
        </p:spPr>
        <p:txBody>
          <a:bodyPr wrap="square" lIns="0" tIns="0" rIns="0" bIns="0" rtlCol="0" anchor="ctr"/>
          <a:lstStyle/>
          <a:p>
            <a:pPr marL="0" indent="0" algn="ctr">
              <a:buNone/>
            </a:pPr>
            <a:r>
              <a:rPr lang="en-US" sz="1200" b="1" dirty="0">
                <a:solidFill>
                  <a:srgbClr val="0D1F0F"/>
                </a:solidFill>
                <a:latin typeface="Georgia" pitchFamily="34" charset="0"/>
                <a:ea typeface="Georgia" pitchFamily="34" charset="-122"/>
                <a:cs typeface="Georgia" pitchFamily="34" charset="-120"/>
              </a:rPr>
              <a:t>GitHub Actions</a:t>
            </a:r>
            <a:endParaRPr lang="en-US" sz="1200" dirty="0"/>
          </a:p>
        </p:txBody>
      </p:sp>
      <p:sp>
        <p:nvSpPr>
          <p:cNvPr id="23" name="Text 17"/>
          <p:cNvSpPr/>
          <p:nvPr/>
        </p:nvSpPr>
        <p:spPr>
          <a:xfrm>
            <a:off x="1760220" y="4297680"/>
            <a:ext cx="2423160" cy="502920"/>
          </a:xfrm>
          <a:prstGeom prst="rect">
            <a:avLst/>
          </a:prstGeom>
          <a:noFill/>
          <a:ln/>
        </p:spPr>
        <p:txBody>
          <a:bodyPr wrap="square" lIns="0" tIns="0" rIns="0" bIns="0" rtlCol="0" anchor="ctr"/>
          <a:lstStyle/>
          <a:p>
            <a:pPr marL="0" indent="0" algn="ctr">
              <a:buNone/>
            </a:pPr>
            <a:r>
              <a:rPr lang="en-US" sz="950" dirty="0">
                <a:solidFill>
                  <a:srgbClr val="6B8F71"/>
                </a:solidFill>
                <a:latin typeface="Calibri" pitchFamily="34" charset="0"/>
                <a:ea typeface="Calibri" pitchFamily="34" charset="-122"/>
                <a:cs typeface="Calibri" pitchFamily="34" charset="-120"/>
              </a:rPr>
              <a:t>CI automático: tests Postman/</a:t>
            </a:r>
            <a:endParaRPr lang="en-US" sz="950" dirty="0"/>
          </a:p>
          <a:p>
            <a:pPr marL="0" indent="0" algn="ctr">
              <a:buNone/>
            </a:pPr>
            <a:r>
              <a:rPr lang="en-US" sz="950" dirty="0">
                <a:solidFill>
                  <a:srgbClr val="6B8F71"/>
                </a:solidFill>
                <a:latin typeface="Calibri" pitchFamily="34" charset="0"/>
                <a:ea typeface="Calibri" pitchFamily="34" charset="-122"/>
                <a:cs typeface="Calibri" pitchFamily="34" charset="-120"/>
              </a:rPr>
              <a:t>Newman en cada PR</a:t>
            </a:r>
            <a:endParaRPr lang="en-US" sz="950" dirty="0"/>
          </a:p>
        </p:txBody>
      </p:sp>
      <p:sp>
        <p:nvSpPr>
          <p:cNvPr id="24" name="Shape 18"/>
          <p:cNvSpPr/>
          <p:nvPr/>
        </p:nvSpPr>
        <p:spPr>
          <a:xfrm>
            <a:off x="4274820" y="3063240"/>
            <a:ext cx="2606040" cy="178308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25" name="Shape 19"/>
          <p:cNvSpPr/>
          <p:nvPr/>
        </p:nvSpPr>
        <p:spPr>
          <a:xfrm>
            <a:off x="5230368" y="3227832"/>
            <a:ext cx="694944" cy="694944"/>
          </a:xfrm>
          <a:prstGeom prst="ellipse">
            <a:avLst/>
          </a:prstGeom>
          <a:solidFill>
            <a:srgbClr val="2C7A3E"/>
          </a:solidFill>
          <a:ln w="12700">
            <a:solidFill>
              <a:srgbClr val="2C7A3E"/>
            </a:solidFill>
            <a:prstDash val="solid"/>
          </a:ln>
        </p:spPr>
        <p:txBody>
          <a:bodyPr/>
          <a:lstStyle/>
          <a:p>
            <a:endParaRPr lang="es-ES"/>
          </a:p>
        </p:txBody>
      </p:sp>
      <p:pic>
        <p:nvPicPr>
          <p:cNvPr id="26" name="Image 4" descr="preencoded.png"/>
          <p:cNvPicPr>
            <a:picLocks noChangeAspect="1"/>
          </p:cNvPicPr>
          <p:nvPr/>
        </p:nvPicPr>
        <p:blipFill>
          <a:blip r:embed="rId7"/>
          <a:stretch>
            <a:fillRect/>
          </a:stretch>
        </p:blipFill>
        <p:spPr>
          <a:xfrm>
            <a:off x="5303520" y="3300984"/>
            <a:ext cx="548640" cy="548640"/>
          </a:xfrm>
          <a:prstGeom prst="rect">
            <a:avLst/>
          </a:prstGeom>
        </p:spPr>
      </p:pic>
      <p:sp>
        <p:nvSpPr>
          <p:cNvPr id="27" name="Text 20"/>
          <p:cNvSpPr/>
          <p:nvPr/>
        </p:nvSpPr>
        <p:spPr>
          <a:xfrm>
            <a:off x="4366260" y="3977640"/>
            <a:ext cx="2423160" cy="320040"/>
          </a:xfrm>
          <a:prstGeom prst="rect">
            <a:avLst/>
          </a:prstGeom>
          <a:noFill/>
          <a:ln/>
        </p:spPr>
        <p:txBody>
          <a:bodyPr wrap="square" lIns="0" tIns="0" rIns="0" bIns="0" rtlCol="0" anchor="ctr"/>
          <a:lstStyle/>
          <a:p>
            <a:pPr marL="0" indent="0" algn="ctr">
              <a:buNone/>
            </a:pPr>
            <a:r>
              <a:rPr lang="en-US" sz="1200" b="1" dirty="0">
                <a:solidFill>
                  <a:srgbClr val="0D1F0F"/>
                </a:solidFill>
                <a:latin typeface="Georgia" pitchFamily="34" charset="0"/>
                <a:ea typeface="Georgia" pitchFamily="34" charset="-122"/>
                <a:cs typeface="Georgia" pitchFamily="34" charset="-120"/>
              </a:rPr>
              <a:t>Cloud Config</a:t>
            </a:r>
            <a:endParaRPr lang="en-US" sz="1200" dirty="0"/>
          </a:p>
        </p:txBody>
      </p:sp>
      <p:sp>
        <p:nvSpPr>
          <p:cNvPr id="28" name="Text 21"/>
          <p:cNvSpPr/>
          <p:nvPr/>
        </p:nvSpPr>
        <p:spPr>
          <a:xfrm>
            <a:off x="4366260" y="4297680"/>
            <a:ext cx="2423160" cy="502920"/>
          </a:xfrm>
          <a:prstGeom prst="rect">
            <a:avLst/>
          </a:prstGeom>
          <a:noFill/>
          <a:ln/>
        </p:spPr>
        <p:txBody>
          <a:bodyPr wrap="square" lIns="0" tIns="0" rIns="0" bIns="0" rtlCol="0" anchor="ctr"/>
          <a:lstStyle/>
          <a:p>
            <a:pPr marL="0" indent="0" algn="ctr">
              <a:buNone/>
            </a:pPr>
            <a:r>
              <a:rPr lang="en-US" sz="950" dirty="0">
                <a:solidFill>
                  <a:srgbClr val="6B8F71"/>
                </a:solidFill>
                <a:latin typeface="Calibri" pitchFamily="34" charset="0"/>
                <a:ea typeface="Calibri" pitchFamily="34" charset="-122"/>
                <a:cs typeface="Calibri" pitchFamily="34" charset="-120"/>
              </a:rPr>
              <a:t>Spring Cloud Config Server</a:t>
            </a:r>
            <a:endParaRPr lang="en-US" sz="950" dirty="0"/>
          </a:p>
          <a:p>
            <a:pPr marL="0" indent="0" algn="ctr">
              <a:buNone/>
            </a:pPr>
            <a:r>
              <a:rPr lang="en-US" sz="950" dirty="0">
                <a:solidFill>
                  <a:srgbClr val="6B8F71"/>
                </a:solidFill>
                <a:latin typeface="Calibri" pitchFamily="34" charset="0"/>
                <a:ea typeface="Calibri" pitchFamily="34" charset="-122"/>
                <a:cs typeface="Calibri" pitchFamily="34" charset="-120"/>
              </a:rPr>
              <a:t>+ repo config en GitHub</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F0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Modelo de Datos</a:t>
            </a:r>
            <a:endParaRPr lang="en-US" sz="3200" dirty="0"/>
          </a:p>
        </p:txBody>
      </p:sp>
      <p:sp>
        <p:nvSpPr>
          <p:cNvPr id="3" name="Text 1"/>
          <p:cNvSpPr/>
          <p:nvPr/>
        </p:nvSpPr>
        <p:spPr>
          <a:xfrm>
            <a:off x="457200" y="868680"/>
            <a:ext cx="8229600" cy="320040"/>
          </a:xfrm>
          <a:prstGeom prst="rect">
            <a:avLst/>
          </a:prstGeom>
          <a:noFill/>
          <a:ln/>
        </p:spPr>
        <p:txBody>
          <a:bodyPr wrap="square" lIns="0" tIns="0" rIns="0" bIns="0" rtlCol="0" anchor="ctr"/>
          <a:lstStyle/>
          <a:p>
            <a:pPr marL="0" indent="0">
              <a:buNone/>
            </a:pPr>
            <a:r>
              <a:rPr lang="en-US" sz="1300" i="1" dirty="0">
                <a:solidFill>
                  <a:srgbClr val="8ED99F"/>
                </a:solidFill>
                <a:latin typeface="Calibri" pitchFamily="34" charset="0"/>
                <a:ea typeface="Calibri" pitchFamily="34" charset="-122"/>
                <a:cs typeface="Calibri" pitchFamily="34" charset="-120"/>
              </a:rPr>
              <a:t>Tres entidades principales con relaciones claras</a:t>
            </a:r>
            <a:endParaRPr lang="en-US" sz="1300" dirty="0"/>
          </a:p>
        </p:txBody>
      </p:sp>
      <p:sp>
        <p:nvSpPr>
          <p:cNvPr id="4" name="Shape 2"/>
          <p:cNvSpPr/>
          <p:nvPr/>
        </p:nvSpPr>
        <p:spPr>
          <a:xfrm>
            <a:off x="274320" y="1371600"/>
            <a:ext cx="2834640" cy="3520440"/>
          </a:xfrm>
          <a:prstGeom prst="rect">
            <a:avLst/>
          </a:prstGeom>
          <a:solidFill>
            <a:srgbClr val="1A3320"/>
          </a:solidFill>
          <a:ln w="25400">
            <a:solidFill>
              <a:srgbClr val="4CAF65"/>
            </a:solidFill>
            <a:prstDash val="solid"/>
          </a:ln>
        </p:spPr>
        <p:txBody>
          <a:bodyPr/>
          <a:lstStyle/>
          <a:p>
            <a:endParaRPr lang="es-ES"/>
          </a:p>
        </p:txBody>
      </p:sp>
      <p:sp>
        <p:nvSpPr>
          <p:cNvPr id="5" name="Shape 3"/>
          <p:cNvSpPr/>
          <p:nvPr/>
        </p:nvSpPr>
        <p:spPr>
          <a:xfrm>
            <a:off x="274320" y="1371600"/>
            <a:ext cx="2834640" cy="64008"/>
          </a:xfrm>
          <a:prstGeom prst="rect">
            <a:avLst/>
          </a:prstGeom>
          <a:solidFill>
            <a:srgbClr val="4CAF65"/>
          </a:solidFill>
          <a:ln w="12700">
            <a:solidFill>
              <a:srgbClr val="4CAF65"/>
            </a:solidFill>
            <a:prstDash val="solid"/>
          </a:ln>
        </p:spPr>
        <p:txBody>
          <a:bodyPr/>
          <a:lstStyle/>
          <a:p>
            <a:endParaRPr lang="es-ES"/>
          </a:p>
        </p:txBody>
      </p:sp>
      <p:pic>
        <p:nvPicPr>
          <p:cNvPr id="6" name="Image 0" descr="preencoded.png"/>
          <p:cNvPicPr>
            <a:picLocks noChangeAspect="1"/>
          </p:cNvPicPr>
          <p:nvPr/>
        </p:nvPicPr>
        <p:blipFill>
          <a:blip r:embed="rId3"/>
          <a:stretch>
            <a:fillRect/>
          </a:stretch>
        </p:blipFill>
        <p:spPr>
          <a:xfrm>
            <a:off x="438912" y="1554480"/>
            <a:ext cx="457200" cy="457200"/>
          </a:xfrm>
          <a:prstGeom prst="rect">
            <a:avLst/>
          </a:prstGeom>
        </p:spPr>
      </p:pic>
      <p:sp>
        <p:nvSpPr>
          <p:cNvPr id="7" name="Text 4"/>
          <p:cNvSpPr/>
          <p:nvPr/>
        </p:nvSpPr>
        <p:spPr>
          <a:xfrm>
            <a:off x="960120" y="1554480"/>
            <a:ext cx="201168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Usuario</a:t>
            </a:r>
            <a:endParaRPr lang="en-US" sz="1700" dirty="0"/>
          </a:p>
        </p:txBody>
      </p:sp>
      <p:sp>
        <p:nvSpPr>
          <p:cNvPr id="8" name="Shape 5"/>
          <p:cNvSpPr/>
          <p:nvPr/>
        </p:nvSpPr>
        <p:spPr>
          <a:xfrm>
            <a:off x="411480" y="2148840"/>
            <a:ext cx="2560320" cy="18288"/>
          </a:xfrm>
          <a:prstGeom prst="rect">
            <a:avLst/>
          </a:prstGeom>
          <a:solidFill>
            <a:srgbClr val="4CAF65">
              <a:alpha val="50000"/>
            </a:srgbClr>
          </a:solidFill>
          <a:ln w="12700">
            <a:solidFill>
              <a:srgbClr val="4CAF65"/>
            </a:solidFill>
            <a:prstDash val="solid"/>
          </a:ln>
        </p:spPr>
        <p:txBody>
          <a:bodyPr/>
          <a:lstStyle/>
          <a:p>
            <a:endParaRPr lang="es-ES"/>
          </a:p>
        </p:txBody>
      </p:sp>
      <p:sp>
        <p:nvSpPr>
          <p:cNvPr id="9" name="Text 6"/>
          <p:cNvSpPr/>
          <p:nvPr/>
        </p:nvSpPr>
        <p:spPr>
          <a:xfrm>
            <a:off x="411480" y="2286000"/>
            <a:ext cx="2560320" cy="365760"/>
          </a:xfrm>
          <a:prstGeom prst="rect">
            <a:avLst/>
          </a:prstGeom>
          <a:noFill/>
          <a:ln/>
        </p:spPr>
        <p:txBody>
          <a:bodyPr wrap="square" lIns="0" tIns="0" rIns="0" bIns="0" rtlCol="0" anchor="ctr"/>
          <a:lstStyle/>
          <a:p>
            <a:pPr marL="0" indent="0">
              <a:buNone/>
            </a:pPr>
            <a:r>
              <a:rPr lang="en-US" sz="1000" dirty="0">
                <a:solidFill>
                  <a:srgbClr val="8ED99F"/>
                </a:solidFill>
                <a:latin typeface="Calibri" pitchFamily="34" charset="0"/>
                <a:ea typeface="Calibri" pitchFamily="34" charset="-122"/>
                <a:cs typeface="Calibri" pitchFamily="34" charset="-120"/>
              </a:rPr>
              <a:t>id · email · nombre</a:t>
            </a:r>
            <a:endParaRPr lang="en-US" sz="1000" dirty="0"/>
          </a:p>
        </p:txBody>
      </p:sp>
      <p:sp>
        <p:nvSpPr>
          <p:cNvPr id="10" name="Text 7"/>
          <p:cNvSpPr/>
          <p:nvPr/>
        </p:nvSpPr>
        <p:spPr>
          <a:xfrm>
            <a:off x="411480" y="2670048"/>
            <a:ext cx="2560320" cy="365760"/>
          </a:xfrm>
          <a:prstGeom prst="rect">
            <a:avLst/>
          </a:prstGeom>
          <a:noFill/>
          <a:ln/>
        </p:spPr>
        <p:txBody>
          <a:bodyPr wrap="square" lIns="0" tIns="0" rIns="0" bIns="0" rtlCol="0" anchor="ctr"/>
          <a:lstStyle/>
          <a:p>
            <a:pPr marL="0" indent="0">
              <a:buNone/>
            </a:pPr>
            <a:r>
              <a:rPr lang="en-US" sz="1000" dirty="0">
                <a:solidFill>
                  <a:srgbClr val="8ED99F"/>
                </a:solidFill>
                <a:latin typeface="Calibri" pitchFamily="34" charset="0"/>
                <a:ea typeface="Calibri" pitchFamily="34" charset="-122"/>
                <a:cs typeface="Calibri" pitchFamily="34" charset="-120"/>
              </a:rPr>
              <a:t>password · rol · activo</a:t>
            </a:r>
            <a:endParaRPr lang="en-US" sz="1000" dirty="0"/>
          </a:p>
        </p:txBody>
      </p:sp>
      <p:sp>
        <p:nvSpPr>
          <p:cNvPr id="11" name="Shape 8"/>
          <p:cNvSpPr/>
          <p:nvPr/>
        </p:nvSpPr>
        <p:spPr>
          <a:xfrm>
            <a:off x="411480" y="3246120"/>
            <a:ext cx="685800" cy="274320"/>
          </a:xfrm>
          <a:prstGeom prst="roundRect">
            <a:avLst>
              <a:gd name="adj" fmla="val 26667"/>
            </a:avLst>
          </a:prstGeom>
          <a:solidFill>
            <a:srgbClr val="4CAF65">
              <a:alpha val="70000"/>
            </a:srgbClr>
          </a:solidFill>
          <a:ln w="12700">
            <a:solidFill>
              <a:srgbClr val="4CAF65"/>
            </a:solidFill>
            <a:prstDash val="solid"/>
          </a:ln>
        </p:spPr>
        <p:txBody>
          <a:bodyPr/>
          <a:lstStyle/>
          <a:p>
            <a:endParaRPr lang="es-ES"/>
          </a:p>
        </p:txBody>
      </p:sp>
      <p:sp>
        <p:nvSpPr>
          <p:cNvPr id="12" name="Text 9"/>
          <p:cNvSpPr/>
          <p:nvPr/>
        </p:nvSpPr>
        <p:spPr>
          <a:xfrm>
            <a:off x="411480" y="3246120"/>
            <a:ext cx="68580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ADMIN</a:t>
            </a:r>
            <a:endParaRPr lang="en-US" sz="850" dirty="0"/>
          </a:p>
        </p:txBody>
      </p:sp>
      <p:sp>
        <p:nvSpPr>
          <p:cNvPr id="13" name="Shape 10"/>
          <p:cNvSpPr/>
          <p:nvPr/>
        </p:nvSpPr>
        <p:spPr>
          <a:xfrm>
            <a:off x="1207008" y="3246120"/>
            <a:ext cx="603504" cy="274320"/>
          </a:xfrm>
          <a:prstGeom prst="roundRect">
            <a:avLst>
              <a:gd name="adj" fmla="val 26667"/>
            </a:avLst>
          </a:prstGeom>
          <a:solidFill>
            <a:srgbClr val="4CAF65">
              <a:alpha val="70000"/>
            </a:srgbClr>
          </a:solidFill>
          <a:ln w="12700">
            <a:solidFill>
              <a:srgbClr val="4CAF65"/>
            </a:solidFill>
            <a:prstDash val="solid"/>
          </a:ln>
        </p:spPr>
        <p:txBody>
          <a:bodyPr/>
          <a:lstStyle/>
          <a:p>
            <a:endParaRPr lang="es-ES"/>
          </a:p>
        </p:txBody>
      </p:sp>
      <p:sp>
        <p:nvSpPr>
          <p:cNvPr id="14" name="Text 11"/>
          <p:cNvSpPr/>
          <p:nvPr/>
        </p:nvSpPr>
        <p:spPr>
          <a:xfrm>
            <a:off x="1207008" y="3246120"/>
            <a:ext cx="603504"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USER</a:t>
            </a:r>
            <a:endParaRPr lang="en-US" sz="850" dirty="0"/>
          </a:p>
        </p:txBody>
      </p:sp>
      <p:sp>
        <p:nvSpPr>
          <p:cNvPr id="15" name="Text 12"/>
          <p:cNvSpPr/>
          <p:nvPr/>
        </p:nvSpPr>
        <p:spPr>
          <a:xfrm>
            <a:off x="411480" y="3657600"/>
            <a:ext cx="2560320" cy="640080"/>
          </a:xfrm>
          <a:prstGeom prst="rect">
            <a:avLst/>
          </a:prstGeom>
          <a:noFill/>
          <a:ln/>
        </p:spPr>
        <p:txBody>
          <a:bodyPr wrap="square" lIns="0" tIns="0" rIns="0" bIns="0" rtlCol="0" anchor="ctr"/>
          <a:lstStyle/>
          <a:p>
            <a:pPr marL="0" indent="0">
              <a:buNone/>
            </a:pPr>
            <a:r>
              <a:rPr lang="en-US" sz="900" i="1" dirty="0">
                <a:solidFill>
                  <a:srgbClr val="6B8F71"/>
                </a:solidFill>
                <a:latin typeface="Calibri" pitchFamily="34" charset="0"/>
                <a:ea typeface="Calibri" pitchFamily="34" charset="-122"/>
                <a:cs typeface="Calibri" pitchFamily="34" charset="-120"/>
              </a:rPr>
              <a:t>activo: boolean (borrado lógico)</a:t>
            </a:r>
            <a:endParaRPr lang="en-US" sz="900" dirty="0"/>
          </a:p>
        </p:txBody>
      </p:sp>
      <p:sp>
        <p:nvSpPr>
          <p:cNvPr id="16" name="Shape 13"/>
          <p:cNvSpPr/>
          <p:nvPr/>
        </p:nvSpPr>
        <p:spPr>
          <a:xfrm>
            <a:off x="3108960" y="3017520"/>
            <a:ext cx="137160" cy="45720"/>
          </a:xfrm>
          <a:prstGeom prst="rect">
            <a:avLst/>
          </a:prstGeom>
          <a:solidFill>
            <a:srgbClr val="8ED99F">
              <a:alpha val="70000"/>
            </a:srgbClr>
          </a:solidFill>
          <a:ln w="12700">
            <a:solidFill>
              <a:srgbClr val="8ED99F"/>
            </a:solidFill>
            <a:prstDash val="solid"/>
          </a:ln>
        </p:spPr>
        <p:txBody>
          <a:bodyPr/>
          <a:lstStyle/>
          <a:p>
            <a:endParaRPr lang="es-ES"/>
          </a:p>
        </p:txBody>
      </p:sp>
      <p:sp>
        <p:nvSpPr>
          <p:cNvPr id="17" name="Shape 14"/>
          <p:cNvSpPr/>
          <p:nvPr/>
        </p:nvSpPr>
        <p:spPr>
          <a:xfrm>
            <a:off x="3246120" y="1371600"/>
            <a:ext cx="2834640" cy="3520440"/>
          </a:xfrm>
          <a:prstGeom prst="rect">
            <a:avLst/>
          </a:prstGeom>
          <a:solidFill>
            <a:srgbClr val="1A3320"/>
          </a:solidFill>
          <a:ln w="25400">
            <a:solidFill>
              <a:srgbClr val="D4A843"/>
            </a:solidFill>
            <a:prstDash val="solid"/>
          </a:ln>
        </p:spPr>
        <p:txBody>
          <a:bodyPr/>
          <a:lstStyle/>
          <a:p>
            <a:endParaRPr lang="es-ES"/>
          </a:p>
        </p:txBody>
      </p:sp>
      <p:sp>
        <p:nvSpPr>
          <p:cNvPr id="18" name="Shape 15"/>
          <p:cNvSpPr/>
          <p:nvPr/>
        </p:nvSpPr>
        <p:spPr>
          <a:xfrm>
            <a:off x="3246120" y="1371600"/>
            <a:ext cx="2834640" cy="64008"/>
          </a:xfrm>
          <a:prstGeom prst="rect">
            <a:avLst/>
          </a:prstGeom>
          <a:solidFill>
            <a:srgbClr val="D4A843"/>
          </a:solidFill>
          <a:ln w="12700">
            <a:solidFill>
              <a:srgbClr val="D4A843"/>
            </a:solidFill>
            <a:prstDash val="solid"/>
          </a:ln>
        </p:spPr>
        <p:txBody>
          <a:bodyPr/>
          <a:lstStyle/>
          <a:p>
            <a:endParaRPr lang="es-ES"/>
          </a:p>
        </p:txBody>
      </p:sp>
      <p:pic>
        <p:nvPicPr>
          <p:cNvPr id="19" name="Image 1" descr="preencoded.png"/>
          <p:cNvPicPr>
            <a:picLocks noChangeAspect="1"/>
          </p:cNvPicPr>
          <p:nvPr/>
        </p:nvPicPr>
        <p:blipFill>
          <a:blip r:embed="rId4"/>
          <a:stretch>
            <a:fillRect/>
          </a:stretch>
        </p:blipFill>
        <p:spPr>
          <a:xfrm>
            <a:off x="3410712" y="1554480"/>
            <a:ext cx="457200" cy="457200"/>
          </a:xfrm>
          <a:prstGeom prst="rect">
            <a:avLst/>
          </a:prstGeom>
        </p:spPr>
      </p:pic>
      <p:sp>
        <p:nvSpPr>
          <p:cNvPr id="20" name="Text 16"/>
          <p:cNvSpPr/>
          <p:nvPr/>
        </p:nvSpPr>
        <p:spPr>
          <a:xfrm>
            <a:off x="3931920" y="1554480"/>
            <a:ext cx="201168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Especie</a:t>
            </a:r>
            <a:endParaRPr lang="en-US" sz="1700" dirty="0"/>
          </a:p>
        </p:txBody>
      </p:sp>
      <p:sp>
        <p:nvSpPr>
          <p:cNvPr id="21" name="Shape 17"/>
          <p:cNvSpPr/>
          <p:nvPr/>
        </p:nvSpPr>
        <p:spPr>
          <a:xfrm>
            <a:off x="3383280" y="2148840"/>
            <a:ext cx="2560320" cy="18288"/>
          </a:xfrm>
          <a:prstGeom prst="rect">
            <a:avLst/>
          </a:prstGeom>
          <a:solidFill>
            <a:srgbClr val="D4A843">
              <a:alpha val="50000"/>
            </a:srgbClr>
          </a:solidFill>
          <a:ln w="12700">
            <a:solidFill>
              <a:srgbClr val="D4A843"/>
            </a:solidFill>
            <a:prstDash val="solid"/>
          </a:ln>
        </p:spPr>
        <p:txBody>
          <a:bodyPr/>
          <a:lstStyle/>
          <a:p>
            <a:endParaRPr lang="es-ES"/>
          </a:p>
        </p:txBody>
      </p:sp>
      <p:sp>
        <p:nvSpPr>
          <p:cNvPr id="22" name="Text 18"/>
          <p:cNvSpPr/>
          <p:nvPr/>
        </p:nvSpPr>
        <p:spPr>
          <a:xfrm>
            <a:off x="3383280" y="2286000"/>
            <a:ext cx="2560320" cy="365760"/>
          </a:xfrm>
          <a:prstGeom prst="rect">
            <a:avLst/>
          </a:prstGeom>
          <a:noFill/>
          <a:ln/>
        </p:spPr>
        <p:txBody>
          <a:bodyPr wrap="square" lIns="0" tIns="0" rIns="0" bIns="0" rtlCol="0" anchor="ctr"/>
          <a:lstStyle/>
          <a:p>
            <a:pPr marL="0" indent="0">
              <a:buNone/>
            </a:pPr>
            <a:r>
              <a:rPr lang="en-US" sz="1000" dirty="0">
                <a:solidFill>
                  <a:srgbClr val="8ED99F"/>
                </a:solidFill>
                <a:latin typeface="Calibri" pitchFamily="34" charset="0"/>
                <a:ea typeface="Calibri" pitchFamily="34" charset="-122"/>
                <a:cs typeface="Calibri" pitchFamily="34" charset="-120"/>
              </a:rPr>
              <a:t>id · nombreComun · descripcion</a:t>
            </a:r>
            <a:endParaRPr lang="en-US" sz="1000" dirty="0"/>
          </a:p>
        </p:txBody>
      </p:sp>
      <p:sp>
        <p:nvSpPr>
          <p:cNvPr id="23" name="Text 19"/>
          <p:cNvSpPr/>
          <p:nvPr/>
        </p:nvSpPr>
        <p:spPr>
          <a:xfrm>
            <a:off x="3383280" y="2670048"/>
            <a:ext cx="2560320" cy="365760"/>
          </a:xfrm>
          <a:prstGeom prst="rect">
            <a:avLst/>
          </a:prstGeom>
          <a:noFill/>
          <a:ln/>
        </p:spPr>
        <p:txBody>
          <a:bodyPr wrap="square" lIns="0" tIns="0" rIns="0" bIns="0" rtlCol="0" anchor="ctr"/>
          <a:lstStyle/>
          <a:p>
            <a:pPr marL="0" indent="0">
              <a:buNone/>
            </a:pPr>
            <a:r>
              <a:rPr lang="en-US" sz="1000" dirty="0">
                <a:solidFill>
                  <a:srgbClr val="8ED99F"/>
                </a:solidFill>
                <a:latin typeface="Calibri" pitchFamily="34" charset="0"/>
                <a:ea typeface="Calibri" pitchFamily="34" charset="-122"/>
                <a:cs typeface="Calibri" pitchFamily="34" charset="-120"/>
              </a:rPr>
              <a:t>precio · zonaGeografica · co2AnualKg · alturaMaximaM · fechaTemporada · imageUrl</a:t>
            </a:r>
            <a:endParaRPr lang="en-US" sz="1000" dirty="0"/>
          </a:p>
        </p:txBody>
      </p:sp>
      <p:sp>
        <p:nvSpPr>
          <p:cNvPr id="24" name="Shape 20"/>
          <p:cNvSpPr/>
          <p:nvPr/>
        </p:nvSpPr>
        <p:spPr>
          <a:xfrm>
            <a:off x="3383280" y="3246120"/>
            <a:ext cx="1280160" cy="274320"/>
          </a:xfrm>
          <a:prstGeom prst="roundRect">
            <a:avLst>
              <a:gd name="adj" fmla="val 26667"/>
            </a:avLst>
          </a:prstGeom>
          <a:solidFill>
            <a:srgbClr val="D4A843">
              <a:alpha val="70000"/>
            </a:srgbClr>
          </a:solidFill>
          <a:ln w="12700">
            <a:solidFill>
              <a:srgbClr val="D4A843"/>
            </a:solidFill>
            <a:prstDash val="solid"/>
          </a:ln>
        </p:spPr>
        <p:txBody>
          <a:bodyPr/>
          <a:lstStyle/>
          <a:p>
            <a:endParaRPr lang="es-ES"/>
          </a:p>
        </p:txBody>
      </p:sp>
      <p:sp>
        <p:nvSpPr>
          <p:cNvPr id="25" name="Text 21"/>
          <p:cNvSpPr/>
          <p:nvPr/>
        </p:nvSpPr>
        <p:spPr>
          <a:xfrm>
            <a:off x="3383280" y="3246120"/>
            <a:ext cx="12801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precio/árbol €</a:t>
            </a:r>
            <a:endParaRPr lang="en-US" sz="850" dirty="0"/>
          </a:p>
        </p:txBody>
      </p:sp>
      <p:sp>
        <p:nvSpPr>
          <p:cNvPr id="26" name="Text 22"/>
          <p:cNvSpPr/>
          <p:nvPr/>
        </p:nvSpPr>
        <p:spPr>
          <a:xfrm>
            <a:off x="3383280" y="3657600"/>
            <a:ext cx="2560320" cy="640080"/>
          </a:xfrm>
          <a:prstGeom prst="rect">
            <a:avLst/>
          </a:prstGeom>
          <a:noFill/>
          <a:ln/>
        </p:spPr>
        <p:txBody>
          <a:bodyPr wrap="square" lIns="0" tIns="0" rIns="0" bIns="0" rtlCol="0" anchor="ctr"/>
          <a:lstStyle/>
          <a:p>
            <a:pPr marL="0" indent="0">
              <a:buNone/>
            </a:pPr>
            <a:r>
              <a:rPr lang="en-US" sz="900" i="1" dirty="0">
                <a:solidFill>
                  <a:srgbClr val="6B8F71"/>
                </a:solidFill>
                <a:latin typeface="Calibri" pitchFamily="34" charset="0"/>
                <a:ea typeface="Calibri" pitchFamily="34" charset="-122"/>
                <a:cs typeface="Calibri" pitchFamily="34" charset="-120"/>
              </a:rPr>
              <a:t>disponible: boolean (borrado lógico)</a:t>
            </a:r>
            <a:endParaRPr lang="en-US" sz="900" dirty="0"/>
          </a:p>
        </p:txBody>
      </p:sp>
      <p:sp>
        <p:nvSpPr>
          <p:cNvPr id="27" name="Shape 23"/>
          <p:cNvSpPr/>
          <p:nvPr/>
        </p:nvSpPr>
        <p:spPr>
          <a:xfrm>
            <a:off x="6080760" y="3017520"/>
            <a:ext cx="137160" cy="45720"/>
          </a:xfrm>
          <a:prstGeom prst="rect">
            <a:avLst/>
          </a:prstGeom>
          <a:solidFill>
            <a:srgbClr val="8ED99F">
              <a:alpha val="70000"/>
            </a:srgbClr>
          </a:solidFill>
          <a:ln w="12700">
            <a:solidFill>
              <a:srgbClr val="8ED99F"/>
            </a:solidFill>
            <a:prstDash val="solid"/>
          </a:ln>
        </p:spPr>
        <p:txBody>
          <a:bodyPr/>
          <a:lstStyle/>
          <a:p>
            <a:endParaRPr lang="es-ES"/>
          </a:p>
        </p:txBody>
      </p:sp>
      <p:sp>
        <p:nvSpPr>
          <p:cNvPr id="28" name="Shape 24"/>
          <p:cNvSpPr/>
          <p:nvPr/>
        </p:nvSpPr>
        <p:spPr>
          <a:xfrm>
            <a:off x="6217920" y="1371600"/>
            <a:ext cx="2834640" cy="3520440"/>
          </a:xfrm>
          <a:prstGeom prst="rect">
            <a:avLst/>
          </a:prstGeom>
          <a:solidFill>
            <a:srgbClr val="1A3320"/>
          </a:solidFill>
          <a:ln w="25400">
            <a:solidFill>
              <a:srgbClr val="E07070"/>
            </a:solidFill>
            <a:prstDash val="solid"/>
          </a:ln>
        </p:spPr>
        <p:txBody>
          <a:bodyPr/>
          <a:lstStyle/>
          <a:p>
            <a:endParaRPr lang="es-ES"/>
          </a:p>
        </p:txBody>
      </p:sp>
      <p:sp>
        <p:nvSpPr>
          <p:cNvPr id="29" name="Shape 25"/>
          <p:cNvSpPr/>
          <p:nvPr/>
        </p:nvSpPr>
        <p:spPr>
          <a:xfrm>
            <a:off x="6217920" y="1371600"/>
            <a:ext cx="2834640" cy="64008"/>
          </a:xfrm>
          <a:prstGeom prst="rect">
            <a:avLst/>
          </a:prstGeom>
          <a:solidFill>
            <a:srgbClr val="E07070"/>
          </a:solidFill>
          <a:ln w="12700">
            <a:solidFill>
              <a:srgbClr val="E07070"/>
            </a:solidFill>
            <a:prstDash val="solid"/>
          </a:ln>
        </p:spPr>
        <p:txBody>
          <a:bodyPr/>
          <a:lstStyle/>
          <a:p>
            <a:endParaRPr lang="es-ES"/>
          </a:p>
        </p:txBody>
      </p:sp>
      <p:pic>
        <p:nvPicPr>
          <p:cNvPr id="30" name="Image 2" descr="preencoded.png"/>
          <p:cNvPicPr>
            <a:picLocks noChangeAspect="1"/>
          </p:cNvPicPr>
          <p:nvPr/>
        </p:nvPicPr>
        <p:blipFill>
          <a:blip r:embed="rId5"/>
          <a:stretch>
            <a:fillRect/>
          </a:stretch>
        </p:blipFill>
        <p:spPr>
          <a:xfrm>
            <a:off x="6382512" y="1554480"/>
            <a:ext cx="457200" cy="457200"/>
          </a:xfrm>
          <a:prstGeom prst="rect">
            <a:avLst/>
          </a:prstGeom>
        </p:spPr>
      </p:pic>
      <p:sp>
        <p:nvSpPr>
          <p:cNvPr id="31" name="Text 26"/>
          <p:cNvSpPr/>
          <p:nvPr/>
        </p:nvSpPr>
        <p:spPr>
          <a:xfrm>
            <a:off x="6903720" y="1554480"/>
            <a:ext cx="201168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Donacion</a:t>
            </a:r>
            <a:endParaRPr lang="en-US" sz="1700" dirty="0"/>
          </a:p>
        </p:txBody>
      </p:sp>
      <p:sp>
        <p:nvSpPr>
          <p:cNvPr id="32" name="Shape 27"/>
          <p:cNvSpPr/>
          <p:nvPr/>
        </p:nvSpPr>
        <p:spPr>
          <a:xfrm>
            <a:off x="6355080" y="2148840"/>
            <a:ext cx="2560320" cy="18288"/>
          </a:xfrm>
          <a:prstGeom prst="rect">
            <a:avLst/>
          </a:prstGeom>
          <a:solidFill>
            <a:srgbClr val="E07070">
              <a:alpha val="50000"/>
            </a:srgbClr>
          </a:solidFill>
          <a:ln w="12700">
            <a:solidFill>
              <a:srgbClr val="E07070"/>
            </a:solidFill>
            <a:prstDash val="solid"/>
          </a:ln>
        </p:spPr>
        <p:txBody>
          <a:bodyPr/>
          <a:lstStyle/>
          <a:p>
            <a:endParaRPr lang="es-ES"/>
          </a:p>
        </p:txBody>
      </p:sp>
      <p:sp>
        <p:nvSpPr>
          <p:cNvPr id="33" name="Text 28"/>
          <p:cNvSpPr/>
          <p:nvPr/>
        </p:nvSpPr>
        <p:spPr>
          <a:xfrm>
            <a:off x="6355080" y="2286000"/>
            <a:ext cx="2560320" cy="365760"/>
          </a:xfrm>
          <a:prstGeom prst="rect">
            <a:avLst/>
          </a:prstGeom>
          <a:noFill/>
          <a:ln/>
        </p:spPr>
        <p:txBody>
          <a:bodyPr wrap="square" lIns="0" tIns="0" rIns="0" bIns="0" rtlCol="0" anchor="ctr"/>
          <a:lstStyle/>
          <a:p>
            <a:pPr marL="0" indent="0">
              <a:buNone/>
            </a:pPr>
            <a:r>
              <a:rPr lang="en-US" sz="1000" dirty="0">
                <a:solidFill>
                  <a:srgbClr val="8ED99F"/>
                </a:solidFill>
                <a:latin typeface="Calibri" pitchFamily="34" charset="0"/>
                <a:ea typeface="Calibri" pitchFamily="34" charset="-122"/>
                <a:cs typeface="Calibri" pitchFamily="34" charset="-120"/>
              </a:rPr>
              <a:t>id · nombreDonante · cantidadArboles</a:t>
            </a:r>
            <a:endParaRPr lang="en-US" sz="1000" dirty="0"/>
          </a:p>
        </p:txBody>
      </p:sp>
      <p:sp>
        <p:nvSpPr>
          <p:cNvPr id="34" name="Text 29"/>
          <p:cNvSpPr/>
          <p:nvPr/>
        </p:nvSpPr>
        <p:spPr>
          <a:xfrm>
            <a:off x="6355080" y="2670048"/>
            <a:ext cx="2560320" cy="365760"/>
          </a:xfrm>
          <a:prstGeom prst="rect">
            <a:avLst/>
          </a:prstGeom>
          <a:noFill/>
          <a:ln/>
        </p:spPr>
        <p:txBody>
          <a:bodyPr wrap="square" lIns="0" tIns="0" rIns="0" bIns="0" rtlCol="0" anchor="ctr"/>
          <a:lstStyle/>
          <a:p>
            <a:pPr marL="0" indent="0">
              <a:buNone/>
            </a:pPr>
            <a:r>
              <a:rPr lang="en-US" sz="1000" dirty="0">
                <a:solidFill>
                  <a:srgbClr val="8ED99F"/>
                </a:solidFill>
                <a:latin typeface="Calibri" pitchFamily="34" charset="0"/>
                <a:ea typeface="Calibri" pitchFamily="34" charset="-122"/>
                <a:cs typeface="Calibri" pitchFamily="34" charset="-120"/>
              </a:rPr>
              <a:t>total · estado · pagado · fecha</a:t>
            </a:r>
            <a:endParaRPr lang="en-US" sz="1000" dirty="0"/>
          </a:p>
        </p:txBody>
      </p:sp>
      <p:sp>
        <p:nvSpPr>
          <p:cNvPr id="35" name="Shape 30"/>
          <p:cNvSpPr/>
          <p:nvPr/>
        </p:nvSpPr>
        <p:spPr>
          <a:xfrm>
            <a:off x="6355080" y="3246120"/>
            <a:ext cx="1014984" cy="274320"/>
          </a:xfrm>
          <a:prstGeom prst="roundRect">
            <a:avLst>
              <a:gd name="adj" fmla="val 26667"/>
            </a:avLst>
          </a:prstGeom>
          <a:solidFill>
            <a:srgbClr val="E07070">
              <a:alpha val="70000"/>
            </a:srgbClr>
          </a:solidFill>
          <a:ln w="12700">
            <a:solidFill>
              <a:srgbClr val="E07070"/>
            </a:solidFill>
            <a:prstDash val="solid"/>
          </a:ln>
        </p:spPr>
        <p:txBody>
          <a:bodyPr/>
          <a:lstStyle/>
          <a:p>
            <a:endParaRPr lang="es-ES"/>
          </a:p>
        </p:txBody>
      </p:sp>
      <p:sp>
        <p:nvSpPr>
          <p:cNvPr id="36" name="Text 31"/>
          <p:cNvSpPr/>
          <p:nvPr/>
        </p:nvSpPr>
        <p:spPr>
          <a:xfrm>
            <a:off x="6355080" y="3246120"/>
            <a:ext cx="1014984"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PENDIENTE</a:t>
            </a:r>
            <a:endParaRPr lang="en-US" sz="850" dirty="0"/>
          </a:p>
        </p:txBody>
      </p:sp>
      <p:sp>
        <p:nvSpPr>
          <p:cNvPr id="37" name="Shape 32"/>
          <p:cNvSpPr/>
          <p:nvPr/>
        </p:nvSpPr>
        <p:spPr>
          <a:xfrm>
            <a:off x="7479792" y="3246120"/>
            <a:ext cx="1097280" cy="274320"/>
          </a:xfrm>
          <a:prstGeom prst="roundRect">
            <a:avLst>
              <a:gd name="adj" fmla="val 26667"/>
            </a:avLst>
          </a:prstGeom>
          <a:solidFill>
            <a:srgbClr val="E07070">
              <a:alpha val="70000"/>
            </a:srgbClr>
          </a:solidFill>
          <a:ln w="12700">
            <a:solidFill>
              <a:srgbClr val="E07070"/>
            </a:solidFill>
            <a:prstDash val="solid"/>
          </a:ln>
        </p:spPr>
        <p:txBody>
          <a:bodyPr/>
          <a:lstStyle/>
          <a:p>
            <a:endParaRPr lang="es-ES"/>
          </a:p>
        </p:txBody>
      </p:sp>
      <p:sp>
        <p:nvSpPr>
          <p:cNvPr id="38" name="Text 33"/>
          <p:cNvSpPr/>
          <p:nvPr/>
        </p:nvSpPr>
        <p:spPr>
          <a:xfrm>
            <a:off x="7479792" y="3246120"/>
            <a:ext cx="109728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COMPLETADA</a:t>
            </a:r>
            <a:endParaRPr lang="en-US" sz="850" dirty="0"/>
          </a:p>
        </p:txBody>
      </p:sp>
      <p:sp>
        <p:nvSpPr>
          <p:cNvPr id="39" name="Text 34"/>
          <p:cNvSpPr/>
          <p:nvPr/>
        </p:nvSpPr>
        <p:spPr>
          <a:xfrm>
            <a:off x="6355080" y="3657600"/>
            <a:ext cx="2560320" cy="640080"/>
          </a:xfrm>
          <a:prstGeom prst="rect">
            <a:avLst/>
          </a:prstGeom>
          <a:noFill/>
          <a:ln/>
        </p:spPr>
        <p:txBody>
          <a:bodyPr wrap="square" lIns="0" tIns="0" rIns="0" bIns="0" rtlCol="0" anchor="ctr"/>
          <a:lstStyle/>
          <a:p>
            <a:pPr marL="0" indent="0">
              <a:buNone/>
            </a:pPr>
            <a:r>
              <a:rPr lang="en-US" sz="900" i="1" dirty="0">
                <a:solidFill>
                  <a:srgbClr val="6B8F71"/>
                </a:solidFill>
                <a:latin typeface="Calibri" pitchFamily="34" charset="0"/>
                <a:ea typeface="Calibri" pitchFamily="34" charset="-122"/>
                <a:cs typeface="Calibri" pitchFamily="34" charset="-120"/>
              </a:rPr>
              <a:t>FK: usuario (ManyToOne) · FK: especie (ManyToOne)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9F4"/>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C7A3E"/>
          </a:solidFill>
          <a:ln w="12700">
            <a:solidFill>
              <a:srgbClr val="2C7A3E"/>
            </a:solidFill>
            <a:prstDash val="solid"/>
          </a:ln>
        </p:spPr>
        <p:txBody>
          <a:bodyPr/>
          <a:lstStyle/>
          <a:p>
            <a:endParaRPr lang="es-ES"/>
          </a:p>
        </p:txBody>
      </p:sp>
      <p:sp>
        <p:nvSpPr>
          <p:cNvPr id="3" name="Text 1"/>
          <p:cNvSpPr/>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0D1F0F"/>
                </a:solidFill>
                <a:latin typeface="Georgia" pitchFamily="34" charset="0"/>
                <a:ea typeface="Georgia" pitchFamily="34" charset="-122"/>
                <a:cs typeface="Georgia" pitchFamily="34" charset="-120"/>
              </a:rPr>
              <a:t>Seguridad: JWT + Roles</a:t>
            </a:r>
            <a:endParaRPr lang="en-US" sz="3200" dirty="0"/>
          </a:p>
        </p:txBody>
      </p:sp>
      <p:sp>
        <p:nvSpPr>
          <p:cNvPr id="4" name="Shape 2"/>
          <p:cNvSpPr/>
          <p:nvPr/>
        </p:nvSpPr>
        <p:spPr>
          <a:xfrm>
            <a:off x="365760" y="1051560"/>
            <a:ext cx="2651760" cy="182880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5" name="Shape 3"/>
          <p:cNvSpPr/>
          <p:nvPr/>
        </p:nvSpPr>
        <p:spPr>
          <a:xfrm>
            <a:off x="502920" y="1216152"/>
            <a:ext cx="502920" cy="502920"/>
          </a:xfrm>
          <a:prstGeom prst="ellipse">
            <a:avLst/>
          </a:prstGeom>
          <a:solidFill>
            <a:srgbClr val="2C7A3E"/>
          </a:solidFill>
          <a:ln w="12700">
            <a:solidFill>
              <a:srgbClr val="2C7A3E"/>
            </a:solidFill>
            <a:prstDash val="solid"/>
          </a:ln>
        </p:spPr>
        <p:txBody>
          <a:bodyPr/>
          <a:lstStyle/>
          <a:p>
            <a:endParaRPr lang="es-ES"/>
          </a:p>
        </p:txBody>
      </p:sp>
      <p:sp>
        <p:nvSpPr>
          <p:cNvPr id="6" name="Text 4"/>
          <p:cNvSpPr/>
          <p:nvPr/>
        </p:nvSpPr>
        <p:spPr>
          <a:xfrm>
            <a:off x="502920" y="1216152"/>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pic>
        <p:nvPicPr>
          <p:cNvPr id="7" name="Image 0" descr="preencoded.png"/>
          <p:cNvPicPr>
            <a:picLocks noChangeAspect="1"/>
          </p:cNvPicPr>
          <p:nvPr/>
        </p:nvPicPr>
        <p:blipFill>
          <a:blip r:embed="rId3"/>
          <a:stretch>
            <a:fillRect/>
          </a:stretch>
        </p:blipFill>
        <p:spPr>
          <a:xfrm>
            <a:off x="2331720" y="1216152"/>
            <a:ext cx="457200" cy="457200"/>
          </a:xfrm>
          <a:prstGeom prst="rect">
            <a:avLst/>
          </a:prstGeom>
        </p:spPr>
      </p:pic>
      <p:sp>
        <p:nvSpPr>
          <p:cNvPr id="8" name="Text 5"/>
          <p:cNvSpPr/>
          <p:nvPr/>
        </p:nvSpPr>
        <p:spPr>
          <a:xfrm>
            <a:off x="457200" y="1801368"/>
            <a:ext cx="2468880" cy="365760"/>
          </a:xfrm>
          <a:prstGeom prst="rect">
            <a:avLst/>
          </a:prstGeom>
          <a:noFill/>
          <a:ln/>
        </p:spPr>
        <p:txBody>
          <a:bodyPr wrap="square" lIns="0" tIns="0" rIns="0" bIns="0" rtlCol="0" anchor="ctr"/>
          <a:lstStyle/>
          <a:p>
            <a:pPr marL="0" indent="0">
              <a:buNone/>
            </a:pPr>
            <a:r>
              <a:rPr lang="en-US" sz="1200" b="1" dirty="0">
                <a:solidFill>
                  <a:srgbClr val="0D1F0F"/>
                </a:solidFill>
                <a:latin typeface="Georgia" pitchFamily="34" charset="0"/>
                <a:ea typeface="Georgia" pitchFamily="34" charset="-122"/>
                <a:cs typeface="Georgia" pitchFamily="34" charset="-120"/>
              </a:rPr>
              <a:t>Registro / Login</a:t>
            </a:r>
            <a:endParaRPr lang="en-US" sz="1200" dirty="0"/>
          </a:p>
        </p:txBody>
      </p:sp>
      <p:sp>
        <p:nvSpPr>
          <p:cNvPr id="9" name="Text 6"/>
          <p:cNvSpPr/>
          <p:nvPr/>
        </p:nvSpPr>
        <p:spPr>
          <a:xfrm>
            <a:off x="457200" y="2167128"/>
            <a:ext cx="2468880" cy="640080"/>
          </a:xfrm>
          <a:prstGeom prst="rect">
            <a:avLst/>
          </a:prstGeom>
          <a:noFill/>
          <a:ln/>
        </p:spPr>
        <p:txBody>
          <a:bodyPr wrap="square" lIns="0" tIns="0" rIns="0" bIns="0" rtlCol="0" anchor="ctr"/>
          <a:lstStyle/>
          <a:p>
            <a:pPr marL="0" indent="0">
              <a:buNone/>
            </a:pPr>
            <a:r>
              <a:rPr lang="en-US" sz="1000" dirty="0">
                <a:solidFill>
                  <a:srgbClr val="6B8F71"/>
                </a:solidFill>
                <a:latin typeface="Calibri" pitchFamily="34" charset="0"/>
                <a:ea typeface="Calibri" pitchFamily="34" charset="-122"/>
                <a:cs typeface="Calibri" pitchFamily="34" charset="-120"/>
              </a:rPr>
              <a:t>El servidor emite un JWT firmado al autenticarse correctamente.</a:t>
            </a:r>
            <a:endParaRPr lang="en-US" sz="1000" dirty="0"/>
          </a:p>
        </p:txBody>
      </p:sp>
      <p:sp>
        <p:nvSpPr>
          <p:cNvPr id="10" name="Shape 7"/>
          <p:cNvSpPr/>
          <p:nvPr/>
        </p:nvSpPr>
        <p:spPr>
          <a:xfrm>
            <a:off x="3291840" y="1051560"/>
            <a:ext cx="2651760" cy="182880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11" name="Shape 8"/>
          <p:cNvSpPr/>
          <p:nvPr/>
        </p:nvSpPr>
        <p:spPr>
          <a:xfrm>
            <a:off x="3429000" y="1216152"/>
            <a:ext cx="502920" cy="502920"/>
          </a:xfrm>
          <a:prstGeom prst="ellipse">
            <a:avLst/>
          </a:prstGeom>
          <a:solidFill>
            <a:srgbClr val="2C7A3E"/>
          </a:solidFill>
          <a:ln w="12700">
            <a:solidFill>
              <a:srgbClr val="2C7A3E"/>
            </a:solidFill>
            <a:prstDash val="solid"/>
          </a:ln>
        </p:spPr>
        <p:txBody>
          <a:bodyPr/>
          <a:lstStyle/>
          <a:p>
            <a:endParaRPr lang="es-ES"/>
          </a:p>
        </p:txBody>
      </p:sp>
      <p:sp>
        <p:nvSpPr>
          <p:cNvPr id="12" name="Text 9"/>
          <p:cNvSpPr/>
          <p:nvPr/>
        </p:nvSpPr>
        <p:spPr>
          <a:xfrm>
            <a:off x="3429000" y="1216152"/>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pic>
        <p:nvPicPr>
          <p:cNvPr id="13" name="Image 1" descr="preencoded.png"/>
          <p:cNvPicPr>
            <a:picLocks noChangeAspect="1"/>
          </p:cNvPicPr>
          <p:nvPr/>
        </p:nvPicPr>
        <p:blipFill>
          <a:blip r:embed="rId4"/>
          <a:stretch>
            <a:fillRect/>
          </a:stretch>
        </p:blipFill>
        <p:spPr>
          <a:xfrm>
            <a:off x="5257800" y="1216152"/>
            <a:ext cx="457200" cy="457200"/>
          </a:xfrm>
          <a:prstGeom prst="rect">
            <a:avLst/>
          </a:prstGeom>
        </p:spPr>
      </p:pic>
      <p:sp>
        <p:nvSpPr>
          <p:cNvPr id="14" name="Text 10"/>
          <p:cNvSpPr/>
          <p:nvPr/>
        </p:nvSpPr>
        <p:spPr>
          <a:xfrm>
            <a:off x="3383280" y="1801368"/>
            <a:ext cx="2468880" cy="365760"/>
          </a:xfrm>
          <a:prstGeom prst="rect">
            <a:avLst/>
          </a:prstGeom>
          <a:noFill/>
          <a:ln/>
        </p:spPr>
        <p:txBody>
          <a:bodyPr wrap="square" lIns="0" tIns="0" rIns="0" bIns="0" rtlCol="0" anchor="ctr"/>
          <a:lstStyle/>
          <a:p>
            <a:pPr marL="0" indent="0">
              <a:buNone/>
            </a:pPr>
            <a:r>
              <a:rPr lang="en-US" sz="1200" b="1" dirty="0">
                <a:solidFill>
                  <a:srgbClr val="0D1F0F"/>
                </a:solidFill>
                <a:latin typeface="Georgia" pitchFamily="34" charset="0"/>
                <a:ea typeface="Georgia" pitchFamily="34" charset="-122"/>
                <a:cs typeface="Georgia" pitchFamily="34" charset="-120"/>
              </a:rPr>
              <a:t>Token en cada petición</a:t>
            </a:r>
            <a:endParaRPr lang="en-US" sz="1200" dirty="0"/>
          </a:p>
        </p:txBody>
      </p:sp>
      <p:sp>
        <p:nvSpPr>
          <p:cNvPr id="15" name="Text 11"/>
          <p:cNvSpPr/>
          <p:nvPr/>
        </p:nvSpPr>
        <p:spPr>
          <a:xfrm>
            <a:off x="3383280" y="2167128"/>
            <a:ext cx="2468880" cy="640080"/>
          </a:xfrm>
          <a:prstGeom prst="rect">
            <a:avLst/>
          </a:prstGeom>
          <a:noFill/>
          <a:ln/>
        </p:spPr>
        <p:txBody>
          <a:bodyPr wrap="square" lIns="0" tIns="0" rIns="0" bIns="0" rtlCol="0" anchor="ctr"/>
          <a:lstStyle/>
          <a:p>
            <a:pPr marL="0" indent="0">
              <a:buNone/>
            </a:pPr>
            <a:r>
              <a:rPr lang="en-US" sz="1000" dirty="0">
                <a:solidFill>
                  <a:srgbClr val="6B8F71"/>
                </a:solidFill>
                <a:latin typeface="Calibri" pitchFamily="34" charset="0"/>
                <a:ea typeface="Calibri" pitchFamily="34" charset="-122"/>
                <a:cs typeface="Calibri" pitchFamily="34" charset="-120"/>
              </a:rPr>
              <a:t>El cliente envía: Authorization: Bearer &lt;token&gt; en cada request.</a:t>
            </a:r>
            <a:endParaRPr lang="en-US" sz="1000" dirty="0"/>
          </a:p>
        </p:txBody>
      </p:sp>
      <p:sp>
        <p:nvSpPr>
          <p:cNvPr id="16" name="Shape 12"/>
          <p:cNvSpPr/>
          <p:nvPr/>
        </p:nvSpPr>
        <p:spPr>
          <a:xfrm>
            <a:off x="6217920" y="1051560"/>
            <a:ext cx="2651760" cy="182880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17" name="Shape 13"/>
          <p:cNvSpPr/>
          <p:nvPr/>
        </p:nvSpPr>
        <p:spPr>
          <a:xfrm>
            <a:off x="6355080" y="1216152"/>
            <a:ext cx="502920" cy="502920"/>
          </a:xfrm>
          <a:prstGeom prst="ellipse">
            <a:avLst/>
          </a:prstGeom>
          <a:solidFill>
            <a:srgbClr val="2C7A3E"/>
          </a:solidFill>
          <a:ln w="12700">
            <a:solidFill>
              <a:srgbClr val="2C7A3E"/>
            </a:solidFill>
            <a:prstDash val="solid"/>
          </a:ln>
        </p:spPr>
        <p:txBody>
          <a:bodyPr/>
          <a:lstStyle/>
          <a:p>
            <a:endParaRPr lang="es-ES"/>
          </a:p>
        </p:txBody>
      </p:sp>
      <p:sp>
        <p:nvSpPr>
          <p:cNvPr id="18" name="Text 14"/>
          <p:cNvSpPr/>
          <p:nvPr/>
        </p:nvSpPr>
        <p:spPr>
          <a:xfrm>
            <a:off x="6355080" y="1216152"/>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pic>
        <p:nvPicPr>
          <p:cNvPr id="19" name="Image 2" descr="preencoded.png"/>
          <p:cNvPicPr>
            <a:picLocks noChangeAspect="1"/>
          </p:cNvPicPr>
          <p:nvPr/>
        </p:nvPicPr>
        <p:blipFill>
          <a:blip r:embed="rId5"/>
          <a:stretch>
            <a:fillRect/>
          </a:stretch>
        </p:blipFill>
        <p:spPr>
          <a:xfrm>
            <a:off x="8183880" y="1216152"/>
            <a:ext cx="457200" cy="457200"/>
          </a:xfrm>
          <a:prstGeom prst="rect">
            <a:avLst/>
          </a:prstGeom>
        </p:spPr>
      </p:pic>
      <p:sp>
        <p:nvSpPr>
          <p:cNvPr id="20" name="Text 15"/>
          <p:cNvSpPr/>
          <p:nvPr/>
        </p:nvSpPr>
        <p:spPr>
          <a:xfrm>
            <a:off x="6309360" y="1801368"/>
            <a:ext cx="2468880" cy="365760"/>
          </a:xfrm>
          <a:prstGeom prst="rect">
            <a:avLst/>
          </a:prstGeom>
          <a:noFill/>
          <a:ln/>
        </p:spPr>
        <p:txBody>
          <a:bodyPr wrap="square" lIns="0" tIns="0" rIns="0" bIns="0" rtlCol="0" anchor="ctr"/>
          <a:lstStyle/>
          <a:p>
            <a:pPr marL="0" indent="0">
              <a:buNone/>
            </a:pPr>
            <a:r>
              <a:rPr lang="en-US" sz="1200" b="1" dirty="0">
                <a:solidFill>
                  <a:srgbClr val="0D1F0F"/>
                </a:solidFill>
                <a:latin typeface="Georgia" pitchFamily="34" charset="0"/>
                <a:ea typeface="Georgia" pitchFamily="34" charset="-122"/>
                <a:cs typeface="Georgia" pitchFamily="34" charset="-120"/>
              </a:rPr>
              <a:t>Stateless</a:t>
            </a:r>
            <a:endParaRPr lang="en-US" sz="1200" dirty="0"/>
          </a:p>
        </p:txBody>
      </p:sp>
      <p:sp>
        <p:nvSpPr>
          <p:cNvPr id="21" name="Text 16"/>
          <p:cNvSpPr/>
          <p:nvPr/>
        </p:nvSpPr>
        <p:spPr>
          <a:xfrm>
            <a:off x="6309360" y="2167128"/>
            <a:ext cx="2468880" cy="640080"/>
          </a:xfrm>
          <a:prstGeom prst="rect">
            <a:avLst/>
          </a:prstGeom>
          <a:noFill/>
          <a:ln/>
        </p:spPr>
        <p:txBody>
          <a:bodyPr wrap="square" lIns="0" tIns="0" rIns="0" bIns="0" rtlCol="0" anchor="ctr"/>
          <a:lstStyle/>
          <a:p>
            <a:pPr marL="0" indent="0">
              <a:buNone/>
            </a:pPr>
            <a:r>
              <a:rPr lang="en-US" sz="1000" dirty="0">
                <a:solidFill>
                  <a:srgbClr val="6B8F71"/>
                </a:solidFill>
                <a:latin typeface="Calibri" pitchFamily="34" charset="0"/>
                <a:ea typeface="Calibri" pitchFamily="34" charset="-122"/>
                <a:cs typeface="Calibri" pitchFamily="34" charset="-120"/>
              </a:rPr>
              <a:t>El servidor valida el token sin guardar sesión. Escalable y seguro.</a:t>
            </a:r>
            <a:endParaRPr lang="en-US" sz="1000" dirty="0"/>
          </a:p>
        </p:txBody>
      </p:sp>
      <p:sp>
        <p:nvSpPr>
          <p:cNvPr id="22" name="Shape 17"/>
          <p:cNvSpPr/>
          <p:nvPr/>
        </p:nvSpPr>
        <p:spPr>
          <a:xfrm>
            <a:off x="365760" y="3108960"/>
            <a:ext cx="2651760" cy="182880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23" name="Shape 18"/>
          <p:cNvSpPr/>
          <p:nvPr/>
        </p:nvSpPr>
        <p:spPr>
          <a:xfrm>
            <a:off x="502920" y="3273552"/>
            <a:ext cx="502920" cy="502920"/>
          </a:xfrm>
          <a:prstGeom prst="ellipse">
            <a:avLst/>
          </a:prstGeom>
          <a:solidFill>
            <a:srgbClr val="2C7A3E"/>
          </a:solidFill>
          <a:ln w="12700">
            <a:solidFill>
              <a:srgbClr val="2C7A3E"/>
            </a:solidFill>
            <a:prstDash val="solid"/>
          </a:ln>
        </p:spPr>
        <p:txBody>
          <a:bodyPr/>
          <a:lstStyle/>
          <a:p>
            <a:endParaRPr lang="es-ES"/>
          </a:p>
        </p:txBody>
      </p:sp>
      <p:sp>
        <p:nvSpPr>
          <p:cNvPr id="24" name="Text 19"/>
          <p:cNvSpPr/>
          <p:nvPr/>
        </p:nvSpPr>
        <p:spPr>
          <a:xfrm>
            <a:off x="502920" y="3273552"/>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pic>
        <p:nvPicPr>
          <p:cNvPr id="25" name="Image 3" descr="preencoded.png"/>
          <p:cNvPicPr>
            <a:picLocks noChangeAspect="1"/>
          </p:cNvPicPr>
          <p:nvPr/>
        </p:nvPicPr>
        <p:blipFill>
          <a:blip r:embed="rId6"/>
          <a:stretch>
            <a:fillRect/>
          </a:stretch>
        </p:blipFill>
        <p:spPr>
          <a:xfrm>
            <a:off x="2331720" y="3273552"/>
            <a:ext cx="457200" cy="457200"/>
          </a:xfrm>
          <a:prstGeom prst="rect">
            <a:avLst/>
          </a:prstGeom>
        </p:spPr>
      </p:pic>
      <p:sp>
        <p:nvSpPr>
          <p:cNvPr id="26" name="Text 20"/>
          <p:cNvSpPr/>
          <p:nvPr/>
        </p:nvSpPr>
        <p:spPr>
          <a:xfrm>
            <a:off x="457200" y="3858768"/>
            <a:ext cx="2468880" cy="365760"/>
          </a:xfrm>
          <a:prstGeom prst="rect">
            <a:avLst/>
          </a:prstGeom>
          <a:noFill/>
          <a:ln/>
        </p:spPr>
        <p:txBody>
          <a:bodyPr wrap="square" lIns="0" tIns="0" rIns="0" bIns="0" rtlCol="0" anchor="ctr"/>
          <a:lstStyle/>
          <a:p>
            <a:pPr marL="0" indent="0">
              <a:buNone/>
            </a:pPr>
            <a:r>
              <a:rPr lang="en-US" sz="1200" b="1" dirty="0">
                <a:solidFill>
                  <a:srgbClr val="0D1F0F"/>
                </a:solidFill>
                <a:latin typeface="Georgia" pitchFamily="34" charset="0"/>
                <a:ea typeface="Georgia" pitchFamily="34" charset="-122"/>
                <a:cs typeface="Georgia" pitchFamily="34" charset="-120"/>
              </a:rPr>
              <a:t>BCrypt</a:t>
            </a:r>
            <a:endParaRPr lang="en-US" sz="1200" dirty="0"/>
          </a:p>
        </p:txBody>
      </p:sp>
      <p:sp>
        <p:nvSpPr>
          <p:cNvPr id="27" name="Text 21"/>
          <p:cNvSpPr/>
          <p:nvPr/>
        </p:nvSpPr>
        <p:spPr>
          <a:xfrm>
            <a:off x="457200" y="4224528"/>
            <a:ext cx="2468880" cy="640080"/>
          </a:xfrm>
          <a:prstGeom prst="rect">
            <a:avLst/>
          </a:prstGeom>
          <a:noFill/>
          <a:ln/>
        </p:spPr>
        <p:txBody>
          <a:bodyPr wrap="square" lIns="0" tIns="0" rIns="0" bIns="0" rtlCol="0" anchor="ctr"/>
          <a:lstStyle/>
          <a:p>
            <a:pPr marL="0" indent="0">
              <a:buNone/>
            </a:pPr>
            <a:r>
              <a:rPr lang="en-US" sz="1000" dirty="0">
                <a:solidFill>
                  <a:srgbClr val="6B8F71"/>
                </a:solidFill>
                <a:latin typeface="Calibri" pitchFamily="34" charset="0"/>
                <a:ea typeface="Calibri" pitchFamily="34" charset="-122"/>
                <a:cs typeface="Calibri" pitchFamily="34" charset="-120"/>
              </a:rPr>
              <a:t>Contraseñas hasheadas. Nunca en texto plano ni expuestas en la API.</a:t>
            </a:r>
            <a:endParaRPr lang="en-US" sz="1000" dirty="0"/>
          </a:p>
        </p:txBody>
      </p:sp>
      <p:sp>
        <p:nvSpPr>
          <p:cNvPr id="28" name="Shape 22"/>
          <p:cNvSpPr/>
          <p:nvPr/>
        </p:nvSpPr>
        <p:spPr>
          <a:xfrm>
            <a:off x="3291840" y="3108960"/>
            <a:ext cx="2651760" cy="182880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29" name="Shape 23"/>
          <p:cNvSpPr/>
          <p:nvPr/>
        </p:nvSpPr>
        <p:spPr>
          <a:xfrm>
            <a:off x="3429000" y="3273552"/>
            <a:ext cx="502920" cy="502920"/>
          </a:xfrm>
          <a:prstGeom prst="ellipse">
            <a:avLst/>
          </a:prstGeom>
          <a:solidFill>
            <a:srgbClr val="2C7A3E"/>
          </a:solidFill>
          <a:ln w="12700">
            <a:solidFill>
              <a:srgbClr val="2C7A3E"/>
            </a:solidFill>
            <a:prstDash val="solid"/>
          </a:ln>
        </p:spPr>
        <p:txBody>
          <a:bodyPr/>
          <a:lstStyle/>
          <a:p>
            <a:endParaRPr lang="es-ES"/>
          </a:p>
        </p:txBody>
      </p:sp>
      <p:sp>
        <p:nvSpPr>
          <p:cNvPr id="30" name="Text 24"/>
          <p:cNvSpPr/>
          <p:nvPr/>
        </p:nvSpPr>
        <p:spPr>
          <a:xfrm>
            <a:off x="3429000" y="3273552"/>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pic>
        <p:nvPicPr>
          <p:cNvPr id="31" name="Image 4" descr="preencoded.png"/>
          <p:cNvPicPr>
            <a:picLocks noChangeAspect="1"/>
          </p:cNvPicPr>
          <p:nvPr/>
        </p:nvPicPr>
        <p:blipFill>
          <a:blip r:embed="rId7"/>
          <a:stretch>
            <a:fillRect/>
          </a:stretch>
        </p:blipFill>
        <p:spPr>
          <a:xfrm>
            <a:off x="5257800" y="3273552"/>
            <a:ext cx="457200" cy="457200"/>
          </a:xfrm>
          <a:prstGeom prst="rect">
            <a:avLst/>
          </a:prstGeom>
        </p:spPr>
      </p:pic>
      <p:sp>
        <p:nvSpPr>
          <p:cNvPr id="32" name="Text 25"/>
          <p:cNvSpPr/>
          <p:nvPr/>
        </p:nvSpPr>
        <p:spPr>
          <a:xfrm>
            <a:off x="3383280" y="3858768"/>
            <a:ext cx="2468880" cy="365760"/>
          </a:xfrm>
          <a:prstGeom prst="rect">
            <a:avLst/>
          </a:prstGeom>
          <a:noFill/>
          <a:ln/>
        </p:spPr>
        <p:txBody>
          <a:bodyPr wrap="square" lIns="0" tIns="0" rIns="0" bIns="0" rtlCol="0" anchor="ctr"/>
          <a:lstStyle/>
          <a:p>
            <a:pPr marL="0" indent="0">
              <a:buNone/>
            </a:pPr>
            <a:r>
              <a:rPr lang="en-US" sz="1200" b="1" dirty="0">
                <a:solidFill>
                  <a:srgbClr val="0D1F0F"/>
                </a:solidFill>
                <a:latin typeface="Georgia" pitchFamily="34" charset="0"/>
                <a:ea typeface="Georgia" pitchFamily="34" charset="-122"/>
                <a:cs typeface="Georgia" pitchFamily="34" charset="-120"/>
              </a:rPr>
              <a:t>Control por Rol</a:t>
            </a:r>
            <a:endParaRPr lang="en-US" sz="1200" dirty="0"/>
          </a:p>
        </p:txBody>
      </p:sp>
      <p:sp>
        <p:nvSpPr>
          <p:cNvPr id="33" name="Text 26"/>
          <p:cNvSpPr/>
          <p:nvPr/>
        </p:nvSpPr>
        <p:spPr>
          <a:xfrm>
            <a:off x="3383280" y="4224528"/>
            <a:ext cx="2468880" cy="640080"/>
          </a:xfrm>
          <a:prstGeom prst="rect">
            <a:avLst/>
          </a:prstGeom>
          <a:noFill/>
          <a:ln/>
        </p:spPr>
        <p:txBody>
          <a:bodyPr wrap="square" lIns="0" tIns="0" rIns="0" bIns="0" rtlCol="0" anchor="ctr"/>
          <a:lstStyle/>
          <a:p>
            <a:pPr marL="0" indent="0">
              <a:buNone/>
            </a:pPr>
            <a:r>
              <a:rPr lang="en-US" sz="1000" dirty="0">
                <a:solidFill>
                  <a:srgbClr val="6B8F71"/>
                </a:solidFill>
                <a:latin typeface="Calibri" pitchFamily="34" charset="0"/>
                <a:ea typeface="Calibri" pitchFamily="34" charset="-122"/>
                <a:cs typeface="Calibri" pitchFamily="34" charset="-120"/>
              </a:rPr>
              <a:t>Público: catálogo · USER: donaciones · ADMIN: gestión completa.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0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API REST: Validación &amp; Errores</a:t>
            </a:r>
            <a:endParaRPr lang="en-US" sz="3200" dirty="0"/>
          </a:p>
        </p:txBody>
      </p:sp>
      <p:sp>
        <p:nvSpPr>
          <p:cNvPr id="3" name="Shape 1"/>
          <p:cNvSpPr/>
          <p:nvPr/>
        </p:nvSpPr>
        <p:spPr>
          <a:xfrm>
            <a:off x="365760" y="1051560"/>
            <a:ext cx="4114800" cy="3749040"/>
          </a:xfrm>
          <a:prstGeom prst="rect">
            <a:avLst/>
          </a:prstGeom>
          <a:solidFill>
            <a:srgbClr val="1A3320"/>
          </a:solidFill>
          <a:ln w="12700">
            <a:solidFill>
              <a:srgbClr val="4CAF65"/>
            </a:solidFill>
            <a:prstDash val="solid"/>
          </a:ln>
        </p:spPr>
        <p:txBody>
          <a:bodyPr/>
          <a:lstStyle/>
          <a:p>
            <a:endParaRPr lang="es-ES"/>
          </a:p>
        </p:txBody>
      </p:sp>
      <p:sp>
        <p:nvSpPr>
          <p:cNvPr id="4" name="Text 2"/>
          <p:cNvSpPr/>
          <p:nvPr/>
        </p:nvSpPr>
        <p:spPr>
          <a:xfrm>
            <a:off x="548640" y="1143000"/>
            <a:ext cx="3749040" cy="411480"/>
          </a:xfrm>
          <a:prstGeom prst="rect">
            <a:avLst/>
          </a:prstGeom>
          <a:noFill/>
          <a:ln/>
        </p:spPr>
        <p:txBody>
          <a:bodyPr wrap="square" lIns="0" tIns="0" rIns="0" bIns="0" rtlCol="0" anchor="ctr"/>
          <a:lstStyle/>
          <a:p>
            <a:pPr marL="0" indent="0">
              <a:buNone/>
            </a:pPr>
            <a:r>
              <a:rPr lang="en-US" sz="1400" b="1" dirty="0">
                <a:solidFill>
                  <a:srgbClr val="4CAF65"/>
                </a:solidFill>
                <a:latin typeface="Georgia" pitchFamily="34" charset="0"/>
                <a:ea typeface="Georgia" pitchFamily="34" charset="-122"/>
                <a:cs typeface="Georgia" pitchFamily="34" charset="-120"/>
              </a:rPr>
              <a:t>Endpoints CRUD</a:t>
            </a:r>
            <a:endParaRPr lang="en-US" sz="1400" dirty="0"/>
          </a:p>
        </p:txBody>
      </p:sp>
      <p:sp>
        <p:nvSpPr>
          <p:cNvPr id="5" name="Shape 3"/>
          <p:cNvSpPr/>
          <p:nvPr/>
        </p:nvSpPr>
        <p:spPr>
          <a:xfrm>
            <a:off x="548640" y="1664208"/>
            <a:ext cx="1417320" cy="347472"/>
          </a:xfrm>
          <a:prstGeom prst="roundRect">
            <a:avLst>
              <a:gd name="adj" fmla="val 15789"/>
            </a:avLst>
          </a:prstGeom>
          <a:solidFill>
            <a:srgbClr val="2C7A3E"/>
          </a:solidFill>
          <a:ln w="12700">
            <a:solidFill>
              <a:srgbClr val="2C7A3E"/>
            </a:solidFill>
            <a:prstDash val="solid"/>
          </a:ln>
        </p:spPr>
        <p:txBody>
          <a:bodyPr/>
          <a:lstStyle/>
          <a:p>
            <a:endParaRPr lang="es-ES"/>
          </a:p>
        </p:txBody>
      </p:sp>
      <p:sp>
        <p:nvSpPr>
          <p:cNvPr id="6" name="Text 4"/>
          <p:cNvSpPr/>
          <p:nvPr/>
        </p:nvSpPr>
        <p:spPr>
          <a:xfrm>
            <a:off x="548640" y="1664208"/>
            <a:ext cx="141732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GET/POST/PUT/DEL</a:t>
            </a:r>
            <a:endParaRPr lang="en-US" sz="850" dirty="0"/>
          </a:p>
        </p:txBody>
      </p:sp>
      <p:sp>
        <p:nvSpPr>
          <p:cNvPr id="7" name="Text 5"/>
          <p:cNvSpPr/>
          <p:nvPr/>
        </p:nvSpPr>
        <p:spPr>
          <a:xfrm>
            <a:off x="2103120" y="1664208"/>
            <a:ext cx="2194560" cy="347472"/>
          </a:xfrm>
          <a:prstGeom prst="rect">
            <a:avLst/>
          </a:prstGeom>
          <a:noFill/>
          <a:ln/>
        </p:spPr>
        <p:txBody>
          <a:bodyPr wrap="square" lIns="0" tIns="0" rIns="0" bIns="0" rtlCol="0" anchor="ctr"/>
          <a:lstStyle/>
          <a:p>
            <a:pPr marL="0" indent="0">
              <a:buNone/>
            </a:pPr>
            <a:r>
              <a:rPr lang="en-US" sz="1200" dirty="0">
                <a:solidFill>
                  <a:srgbClr val="8ED99F"/>
                </a:solidFill>
                <a:latin typeface="Calibri" pitchFamily="34" charset="0"/>
                <a:ea typeface="Calibri" pitchFamily="34" charset="-122"/>
                <a:cs typeface="Calibri" pitchFamily="34" charset="-120"/>
              </a:rPr>
              <a:t>/usuarios</a:t>
            </a:r>
            <a:endParaRPr lang="en-US" sz="1200" dirty="0"/>
          </a:p>
        </p:txBody>
      </p:sp>
      <p:sp>
        <p:nvSpPr>
          <p:cNvPr id="8" name="Shape 6"/>
          <p:cNvSpPr/>
          <p:nvPr/>
        </p:nvSpPr>
        <p:spPr>
          <a:xfrm>
            <a:off x="548640" y="2532888"/>
            <a:ext cx="1417320" cy="347472"/>
          </a:xfrm>
          <a:prstGeom prst="roundRect">
            <a:avLst>
              <a:gd name="adj" fmla="val 15789"/>
            </a:avLst>
          </a:prstGeom>
          <a:solidFill>
            <a:srgbClr val="2C7A3E"/>
          </a:solidFill>
          <a:ln w="12700">
            <a:solidFill>
              <a:srgbClr val="2C7A3E"/>
            </a:solidFill>
            <a:prstDash val="solid"/>
          </a:ln>
        </p:spPr>
        <p:txBody>
          <a:bodyPr/>
          <a:lstStyle/>
          <a:p>
            <a:endParaRPr lang="es-ES"/>
          </a:p>
        </p:txBody>
      </p:sp>
      <p:sp>
        <p:nvSpPr>
          <p:cNvPr id="9" name="Text 7"/>
          <p:cNvSpPr/>
          <p:nvPr/>
        </p:nvSpPr>
        <p:spPr>
          <a:xfrm>
            <a:off x="548640" y="2532888"/>
            <a:ext cx="141732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GET/POST/PUT/DEL</a:t>
            </a:r>
            <a:endParaRPr lang="en-US" sz="850" dirty="0"/>
          </a:p>
        </p:txBody>
      </p:sp>
      <p:sp>
        <p:nvSpPr>
          <p:cNvPr id="10" name="Text 8"/>
          <p:cNvSpPr/>
          <p:nvPr/>
        </p:nvSpPr>
        <p:spPr>
          <a:xfrm>
            <a:off x="2103120" y="2532888"/>
            <a:ext cx="2194560" cy="347472"/>
          </a:xfrm>
          <a:prstGeom prst="rect">
            <a:avLst/>
          </a:prstGeom>
          <a:noFill/>
          <a:ln/>
        </p:spPr>
        <p:txBody>
          <a:bodyPr wrap="square" lIns="0" tIns="0" rIns="0" bIns="0" rtlCol="0" anchor="ctr"/>
          <a:lstStyle/>
          <a:p>
            <a:pPr marL="0" indent="0">
              <a:buNone/>
            </a:pPr>
            <a:r>
              <a:rPr lang="en-US" sz="1200" dirty="0">
                <a:solidFill>
                  <a:srgbClr val="8ED99F"/>
                </a:solidFill>
                <a:latin typeface="Calibri" pitchFamily="34" charset="0"/>
                <a:ea typeface="Calibri" pitchFamily="34" charset="-122"/>
                <a:cs typeface="Calibri" pitchFamily="34" charset="-120"/>
              </a:rPr>
              <a:t>/especies</a:t>
            </a:r>
            <a:endParaRPr lang="en-US" sz="1200" dirty="0"/>
          </a:p>
        </p:txBody>
      </p:sp>
      <p:sp>
        <p:nvSpPr>
          <p:cNvPr id="11" name="Shape 9"/>
          <p:cNvSpPr/>
          <p:nvPr/>
        </p:nvSpPr>
        <p:spPr>
          <a:xfrm>
            <a:off x="548640" y="3401568"/>
            <a:ext cx="1417320" cy="347472"/>
          </a:xfrm>
          <a:prstGeom prst="roundRect">
            <a:avLst>
              <a:gd name="adj" fmla="val 15789"/>
            </a:avLst>
          </a:prstGeom>
          <a:solidFill>
            <a:srgbClr val="2C7A3E"/>
          </a:solidFill>
          <a:ln w="12700">
            <a:solidFill>
              <a:srgbClr val="2C7A3E"/>
            </a:solidFill>
            <a:prstDash val="solid"/>
          </a:ln>
        </p:spPr>
        <p:txBody>
          <a:bodyPr/>
          <a:lstStyle/>
          <a:p>
            <a:endParaRPr lang="es-ES"/>
          </a:p>
        </p:txBody>
      </p:sp>
      <p:sp>
        <p:nvSpPr>
          <p:cNvPr id="12" name="Text 10"/>
          <p:cNvSpPr/>
          <p:nvPr/>
        </p:nvSpPr>
        <p:spPr>
          <a:xfrm>
            <a:off x="548640" y="3401568"/>
            <a:ext cx="141732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GET/POST/PUT/DEL</a:t>
            </a:r>
            <a:endParaRPr lang="en-US" sz="850" dirty="0"/>
          </a:p>
        </p:txBody>
      </p:sp>
      <p:sp>
        <p:nvSpPr>
          <p:cNvPr id="13" name="Text 11"/>
          <p:cNvSpPr/>
          <p:nvPr/>
        </p:nvSpPr>
        <p:spPr>
          <a:xfrm>
            <a:off x="2103120" y="3401568"/>
            <a:ext cx="2194560" cy="347472"/>
          </a:xfrm>
          <a:prstGeom prst="rect">
            <a:avLst/>
          </a:prstGeom>
          <a:noFill/>
          <a:ln/>
        </p:spPr>
        <p:txBody>
          <a:bodyPr wrap="square" lIns="0" tIns="0" rIns="0" bIns="0" rtlCol="0" anchor="ctr"/>
          <a:lstStyle/>
          <a:p>
            <a:pPr marL="0" indent="0">
              <a:buNone/>
            </a:pPr>
            <a:r>
              <a:rPr lang="en-US" sz="1200" dirty="0">
                <a:solidFill>
                  <a:srgbClr val="8ED99F"/>
                </a:solidFill>
                <a:latin typeface="Calibri" pitchFamily="34" charset="0"/>
                <a:ea typeface="Calibri" pitchFamily="34" charset="-122"/>
                <a:cs typeface="Calibri" pitchFamily="34" charset="-120"/>
              </a:rPr>
              <a:t>/donaciones</a:t>
            </a:r>
            <a:endParaRPr lang="en-US" sz="1200" dirty="0"/>
          </a:p>
        </p:txBody>
      </p:sp>
      <p:sp>
        <p:nvSpPr>
          <p:cNvPr id="14" name="Shape 12"/>
          <p:cNvSpPr/>
          <p:nvPr/>
        </p:nvSpPr>
        <p:spPr>
          <a:xfrm>
            <a:off x="548640" y="4297680"/>
            <a:ext cx="914400" cy="274320"/>
          </a:xfrm>
          <a:prstGeom prst="rect">
            <a:avLst/>
          </a:prstGeom>
          <a:solidFill>
            <a:srgbClr val="D4A843"/>
          </a:solidFill>
          <a:ln w="12700">
            <a:solidFill>
              <a:srgbClr val="D4A843"/>
            </a:solidFill>
            <a:prstDash val="solid"/>
          </a:ln>
        </p:spPr>
        <p:txBody>
          <a:bodyPr/>
          <a:lstStyle/>
          <a:p>
            <a:endParaRPr lang="es-ES"/>
          </a:p>
        </p:txBody>
      </p:sp>
      <p:sp>
        <p:nvSpPr>
          <p:cNvPr id="15" name="Text 13"/>
          <p:cNvSpPr/>
          <p:nvPr/>
        </p:nvSpPr>
        <p:spPr>
          <a:xfrm>
            <a:off x="548640" y="4297680"/>
            <a:ext cx="914400" cy="274320"/>
          </a:xfrm>
          <a:prstGeom prst="rect">
            <a:avLst/>
          </a:prstGeom>
          <a:noFill/>
          <a:ln/>
        </p:spPr>
        <p:txBody>
          <a:bodyPr wrap="square" lIns="0" tIns="0" rIns="0" bIns="0" rtlCol="0" anchor="ctr"/>
          <a:lstStyle/>
          <a:p>
            <a:pPr marL="0" indent="0" algn="ctr">
              <a:buNone/>
            </a:pPr>
            <a:r>
              <a:rPr lang="en-US" sz="900" b="1" dirty="0">
                <a:solidFill>
                  <a:srgbClr val="0D1F0F"/>
                </a:solidFill>
                <a:latin typeface="Calibri" pitchFamily="34" charset="0"/>
                <a:ea typeface="Calibri" pitchFamily="34" charset="-122"/>
                <a:cs typeface="Calibri" pitchFamily="34" charset="-120"/>
              </a:rPr>
              <a:t>Swagger</a:t>
            </a:r>
            <a:endParaRPr lang="en-US" sz="900" dirty="0"/>
          </a:p>
        </p:txBody>
      </p:sp>
      <p:sp>
        <p:nvSpPr>
          <p:cNvPr id="16" name="Text 14"/>
          <p:cNvSpPr/>
          <p:nvPr/>
        </p:nvSpPr>
        <p:spPr>
          <a:xfrm>
            <a:off x="1572768" y="4315968"/>
            <a:ext cx="2651760" cy="256032"/>
          </a:xfrm>
          <a:prstGeom prst="rect">
            <a:avLst/>
          </a:prstGeom>
          <a:noFill/>
          <a:ln/>
        </p:spPr>
        <p:txBody>
          <a:bodyPr wrap="square" lIns="0" tIns="0" rIns="0" bIns="0" rtlCol="0" anchor="ctr"/>
          <a:lstStyle/>
          <a:p>
            <a:pPr marL="0" indent="0">
              <a:buNone/>
            </a:pPr>
            <a:r>
              <a:rPr lang="en-US" sz="950" dirty="0">
                <a:solidFill>
                  <a:srgbClr val="6B8F71"/>
                </a:solidFill>
                <a:latin typeface="Calibri" pitchFamily="34" charset="0"/>
                <a:ea typeface="Calibri" pitchFamily="34" charset="-122"/>
                <a:cs typeface="Calibri" pitchFamily="34" charset="-120"/>
              </a:rPr>
              <a:t>OpenAPI / Swagger — documentación interactiva completa de todos los endpoints</a:t>
            </a:r>
            <a:endParaRPr lang="en-US" sz="950" dirty="0"/>
          </a:p>
        </p:txBody>
      </p:sp>
      <p:sp>
        <p:nvSpPr>
          <p:cNvPr id="17" name="Shape 15"/>
          <p:cNvSpPr/>
          <p:nvPr/>
        </p:nvSpPr>
        <p:spPr>
          <a:xfrm>
            <a:off x="4754880" y="1051560"/>
            <a:ext cx="4114800" cy="3749040"/>
          </a:xfrm>
          <a:prstGeom prst="rect">
            <a:avLst/>
          </a:prstGeom>
          <a:solidFill>
            <a:srgbClr val="1A3320"/>
          </a:solidFill>
          <a:ln w="12700">
            <a:solidFill>
              <a:srgbClr val="D4A843"/>
            </a:solidFill>
            <a:prstDash val="solid"/>
          </a:ln>
        </p:spPr>
        <p:txBody>
          <a:bodyPr/>
          <a:lstStyle/>
          <a:p>
            <a:endParaRPr lang="es-ES"/>
          </a:p>
        </p:txBody>
      </p:sp>
      <p:sp>
        <p:nvSpPr>
          <p:cNvPr id="18" name="Text 16"/>
          <p:cNvSpPr/>
          <p:nvPr/>
        </p:nvSpPr>
        <p:spPr>
          <a:xfrm>
            <a:off x="4937760" y="1143000"/>
            <a:ext cx="3749040" cy="411480"/>
          </a:xfrm>
          <a:prstGeom prst="rect">
            <a:avLst/>
          </a:prstGeom>
          <a:noFill/>
          <a:ln/>
        </p:spPr>
        <p:txBody>
          <a:bodyPr wrap="square" lIns="0" tIns="0" rIns="0" bIns="0" rtlCol="0" anchor="ctr"/>
          <a:lstStyle/>
          <a:p>
            <a:pPr marL="0" indent="0">
              <a:buNone/>
            </a:pPr>
            <a:r>
              <a:rPr lang="en-US" sz="1400" b="1" dirty="0">
                <a:solidFill>
                  <a:srgbClr val="D4A843"/>
                </a:solidFill>
                <a:latin typeface="Georgia" pitchFamily="34" charset="0"/>
                <a:ea typeface="Georgia" pitchFamily="34" charset="-122"/>
                <a:cs typeface="Georgia" pitchFamily="34" charset="-120"/>
              </a:rPr>
              <a:t>Manejo de Errores</a:t>
            </a:r>
            <a:endParaRPr lang="en-US" sz="1400" dirty="0"/>
          </a:p>
        </p:txBody>
      </p:sp>
      <p:sp>
        <p:nvSpPr>
          <p:cNvPr id="19" name="Text 17"/>
          <p:cNvSpPr/>
          <p:nvPr/>
        </p:nvSpPr>
        <p:spPr>
          <a:xfrm>
            <a:off x="4937760" y="1554480"/>
            <a:ext cx="3657600" cy="320040"/>
          </a:xfrm>
          <a:prstGeom prst="rect">
            <a:avLst/>
          </a:prstGeom>
          <a:noFill/>
          <a:ln/>
        </p:spPr>
        <p:txBody>
          <a:bodyPr wrap="square" lIns="0" tIns="0" rIns="0" bIns="0" rtlCol="0" anchor="ctr"/>
          <a:lstStyle/>
          <a:p>
            <a:pPr marL="0" indent="0">
              <a:buNone/>
            </a:pPr>
            <a:r>
              <a:rPr lang="en-US" sz="1050" i="1" dirty="0">
                <a:solidFill>
                  <a:srgbClr val="8ED99F"/>
                </a:solidFill>
                <a:latin typeface="Calibri" pitchFamily="34" charset="0"/>
                <a:ea typeface="Calibri" pitchFamily="34" charset="-122"/>
                <a:cs typeface="Calibri" pitchFamily="34" charset="-120"/>
              </a:rPr>
              <a:t>@RestControllerAdvice centralizado</a:t>
            </a:r>
            <a:endParaRPr lang="en-US" sz="1050" dirty="0"/>
          </a:p>
        </p:txBody>
      </p:sp>
      <p:sp>
        <p:nvSpPr>
          <p:cNvPr id="20" name="Shape 18"/>
          <p:cNvSpPr/>
          <p:nvPr/>
        </p:nvSpPr>
        <p:spPr>
          <a:xfrm>
            <a:off x="4937760" y="1965960"/>
            <a:ext cx="594360" cy="301752"/>
          </a:xfrm>
          <a:prstGeom prst="roundRect">
            <a:avLst>
              <a:gd name="adj" fmla="val 12121"/>
            </a:avLst>
          </a:prstGeom>
          <a:solidFill>
            <a:srgbClr val="E07070"/>
          </a:solidFill>
          <a:ln w="12700">
            <a:solidFill>
              <a:srgbClr val="E07070"/>
            </a:solidFill>
            <a:prstDash val="solid"/>
          </a:ln>
        </p:spPr>
        <p:txBody>
          <a:bodyPr/>
          <a:lstStyle/>
          <a:p>
            <a:endParaRPr lang="es-ES"/>
          </a:p>
        </p:txBody>
      </p:sp>
      <p:sp>
        <p:nvSpPr>
          <p:cNvPr id="21" name="Text 19"/>
          <p:cNvSpPr/>
          <p:nvPr/>
        </p:nvSpPr>
        <p:spPr>
          <a:xfrm>
            <a:off x="4937760" y="1965960"/>
            <a:ext cx="594360"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400</a:t>
            </a:r>
            <a:endParaRPr lang="en-US" sz="1000" dirty="0"/>
          </a:p>
        </p:txBody>
      </p:sp>
      <p:sp>
        <p:nvSpPr>
          <p:cNvPr id="22" name="Text 20"/>
          <p:cNvSpPr/>
          <p:nvPr/>
        </p:nvSpPr>
        <p:spPr>
          <a:xfrm>
            <a:off x="5623560" y="1965960"/>
            <a:ext cx="3108960" cy="301752"/>
          </a:xfrm>
          <a:prstGeom prst="rect">
            <a:avLst/>
          </a:prstGeom>
          <a:noFill/>
          <a:ln/>
        </p:spPr>
        <p:txBody>
          <a:bodyPr wrap="square" lIns="0" tIns="0" rIns="0" bIns="0" rtlCol="0" anchor="ctr"/>
          <a:lstStyle/>
          <a:p>
            <a:pPr marL="0" indent="0">
              <a:buNone/>
            </a:pPr>
            <a:r>
              <a:rPr lang="en-US" sz="950" dirty="0">
                <a:solidFill>
                  <a:srgbClr val="8ED99F"/>
                </a:solidFill>
                <a:latin typeface="Calibri" pitchFamily="34" charset="0"/>
                <a:ea typeface="Calibri" pitchFamily="34" charset="-122"/>
                <a:cs typeface="Calibri" pitchFamily="34" charset="-120"/>
              </a:rPr>
              <a:t>Bad Request — Validación Bean Validation fallida</a:t>
            </a:r>
            <a:endParaRPr lang="en-US" sz="950" dirty="0"/>
          </a:p>
        </p:txBody>
      </p:sp>
      <p:sp>
        <p:nvSpPr>
          <p:cNvPr id="23" name="Shape 21"/>
          <p:cNvSpPr/>
          <p:nvPr/>
        </p:nvSpPr>
        <p:spPr>
          <a:xfrm>
            <a:off x="4937760" y="2404872"/>
            <a:ext cx="594360" cy="301752"/>
          </a:xfrm>
          <a:prstGeom prst="roundRect">
            <a:avLst>
              <a:gd name="adj" fmla="val 12121"/>
            </a:avLst>
          </a:prstGeom>
          <a:solidFill>
            <a:srgbClr val="E07070"/>
          </a:solidFill>
          <a:ln w="12700">
            <a:solidFill>
              <a:srgbClr val="E07070"/>
            </a:solidFill>
            <a:prstDash val="solid"/>
          </a:ln>
        </p:spPr>
        <p:txBody>
          <a:bodyPr/>
          <a:lstStyle/>
          <a:p>
            <a:endParaRPr lang="es-ES"/>
          </a:p>
        </p:txBody>
      </p:sp>
      <p:sp>
        <p:nvSpPr>
          <p:cNvPr id="24" name="Text 22"/>
          <p:cNvSpPr/>
          <p:nvPr/>
        </p:nvSpPr>
        <p:spPr>
          <a:xfrm>
            <a:off x="4937760" y="2404872"/>
            <a:ext cx="594360"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401</a:t>
            </a:r>
            <a:endParaRPr lang="en-US" sz="1000" dirty="0"/>
          </a:p>
        </p:txBody>
      </p:sp>
      <p:sp>
        <p:nvSpPr>
          <p:cNvPr id="25" name="Text 23"/>
          <p:cNvSpPr/>
          <p:nvPr/>
        </p:nvSpPr>
        <p:spPr>
          <a:xfrm>
            <a:off x="5623560" y="2404872"/>
            <a:ext cx="3108960" cy="301752"/>
          </a:xfrm>
          <a:prstGeom prst="rect">
            <a:avLst/>
          </a:prstGeom>
          <a:noFill/>
          <a:ln/>
        </p:spPr>
        <p:txBody>
          <a:bodyPr wrap="square" lIns="0" tIns="0" rIns="0" bIns="0" rtlCol="0" anchor="ctr"/>
          <a:lstStyle/>
          <a:p>
            <a:pPr marL="0" indent="0">
              <a:buNone/>
            </a:pPr>
            <a:r>
              <a:rPr lang="en-US" sz="950" dirty="0">
                <a:solidFill>
                  <a:srgbClr val="8ED99F"/>
                </a:solidFill>
                <a:latin typeface="Calibri" pitchFamily="34" charset="0"/>
                <a:ea typeface="Calibri" pitchFamily="34" charset="-122"/>
                <a:cs typeface="Calibri" pitchFamily="34" charset="-120"/>
              </a:rPr>
              <a:t>Unauthorized — Token JWT ausente o inválido</a:t>
            </a:r>
            <a:endParaRPr lang="en-US" sz="950" dirty="0"/>
          </a:p>
        </p:txBody>
      </p:sp>
      <p:sp>
        <p:nvSpPr>
          <p:cNvPr id="26" name="Shape 24"/>
          <p:cNvSpPr/>
          <p:nvPr/>
        </p:nvSpPr>
        <p:spPr>
          <a:xfrm>
            <a:off x="4937760" y="2843784"/>
            <a:ext cx="594360" cy="301752"/>
          </a:xfrm>
          <a:prstGeom prst="roundRect">
            <a:avLst>
              <a:gd name="adj" fmla="val 12121"/>
            </a:avLst>
          </a:prstGeom>
          <a:solidFill>
            <a:srgbClr val="E0A050"/>
          </a:solidFill>
          <a:ln w="12700">
            <a:solidFill>
              <a:srgbClr val="E0A050"/>
            </a:solidFill>
            <a:prstDash val="solid"/>
          </a:ln>
        </p:spPr>
        <p:txBody>
          <a:bodyPr/>
          <a:lstStyle/>
          <a:p>
            <a:endParaRPr lang="es-ES"/>
          </a:p>
        </p:txBody>
      </p:sp>
      <p:sp>
        <p:nvSpPr>
          <p:cNvPr id="27" name="Text 25"/>
          <p:cNvSpPr/>
          <p:nvPr/>
        </p:nvSpPr>
        <p:spPr>
          <a:xfrm>
            <a:off x="4937760" y="2843784"/>
            <a:ext cx="594360"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403</a:t>
            </a:r>
            <a:endParaRPr lang="en-US" sz="1000" dirty="0"/>
          </a:p>
        </p:txBody>
      </p:sp>
      <p:sp>
        <p:nvSpPr>
          <p:cNvPr id="28" name="Text 26"/>
          <p:cNvSpPr/>
          <p:nvPr/>
        </p:nvSpPr>
        <p:spPr>
          <a:xfrm>
            <a:off x="5623560" y="2843784"/>
            <a:ext cx="3108960" cy="301752"/>
          </a:xfrm>
          <a:prstGeom prst="rect">
            <a:avLst/>
          </a:prstGeom>
          <a:noFill/>
          <a:ln/>
        </p:spPr>
        <p:txBody>
          <a:bodyPr wrap="square" lIns="0" tIns="0" rIns="0" bIns="0" rtlCol="0" anchor="ctr"/>
          <a:lstStyle/>
          <a:p>
            <a:pPr marL="0" indent="0">
              <a:buNone/>
            </a:pPr>
            <a:r>
              <a:rPr lang="en-US" sz="950" dirty="0">
                <a:solidFill>
                  <a:srgbClr val="8ED99F"/>
                </a:solidFill>
                <a:latin typeface="Calibri" pitchFamily="34" charset="0"/>
                <a:ea typeface="Calibri" pitchFamily="34" charset="-122"/>
                <a:cs typeface="Calibri" pitchFamily="34" charset="-120"/>
              </a:rPr>
              <a:t>Forbidden — Rol sin permiso de acceso</a:t>
            </a:r>
            <a:endParaRPr lang="en-US" sz="950" dirty="0"/>
          </a:p>
        </p:txBody>
      </p:sp>
      <p:sp>
        <p:nvSpPr>
          <p:cNvPr id="29" name="Shape 27"/>
          <p:cNvSpPr/>
          <p:nvPr/>
        </p:nvSpPr>
        <p:spPr>
          <a:xfrm>
            <a:off x="4937760" y="3282696"/>
            <a:ext cx="594360" cy="301752"/>
          </a:xfrm>
          <a:prstGeom prst="roundRect">
            <a:avLst>
              <a:gd name="adj" fmla="val 12121"/>
            </a:avLst>
          </a:prstGeom>
          <a:solidFill>
            <a:srgbClr val="4A9E6B"/>
          </a:solidFill>
          <a:ln w="12700">
            <a:solidFill>
              <a:srgbClr val="4A9E6B"/>
            </a:solidFill>
            <a:prstDash val="solid"/>
          </a:ln>
        </p:spPr>
        <p:txBody>
          <a:bodyPr/>
          <a:lstStyle/>
          <a:p>
            <a:endParaRPr lang="es-ES"/>
          </a:p>
        </p:txBody>
      </p:sp>
      <p:sp>
        <p:nvSpPr>
          <p:cNvPr id="30" name="Text 28"/>
          <p:cNvSpPr/>
          <p:nvPr/>
        </p:nvSpPr>
        <p:spPr>
          <a:xfrm>
            <a:off x="4937760" y="3282696"/>
            <a:ext cx="594360"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404</a:t>
            </a:r>
            <a:endParaRPr lang="en-US" sz="1000" dirty="0"/>
          </a:p>
        </p:txBody>
      </p:sp>
      <p:sp>
        <p:nvSpPr>
          <p:cNvPr id="31" name="Text 29"/>
          <p:cNvSpPr/>
          <p:nvPr/>
        </p:nvSpPr>
        <p:spPr>
          <a:xfrm>
            <a:off x="5623560" y="3282696"/>
            <a:ext cx="3108960" cy="301752"/>
          </a:xfrm>
          <a:prstGeom prst="rect">
            <a:avLst/>
          </a:prstGeom>
          <a:noFill/>
          <a:ln/>
        </p:spPr>
        <p:txBody>
          <a:bodyPr wrap="square" lIns="0" tIns="0" rIns="0" bIns="0" rtlCol="0" anchor="ctr"/>
          <a:lstStyle/>
          <a:p>
            <a:pPr marL="0" indent="0">
              <a:buNone/>
            </a:pPr>
            <a:r>
              <a:rPr lang="en-US" sz="950" dirty="0">
                <a:solidFill>
                  <a:srgbClr val="8ED99F"/>
                </a:solidFill>
                <a:latin typeface="Calibri" pitchFamily="34" charset="0"/>
                <a:ea typeface="Calibri" pitchFamily="34" charset="-122"/>
                <a:cs typeface="Calibri" pitchFamily="34" charset="-120"/>
              </a:rPr>
              <a:t>Not Found — Recurso no encontrado</a:t>
            </a:r>
            <a:endParaRPr lang="en-US" sz="950" dirty="0"/>
          </a:p>
        </p:txBody>
      </p:sp>
      <p:sp>
        <p:nvSpPr>
          <p:cNvPr id="32" name="Shape 30"/>
          <p:cNvSpPr/>
          <p:nvPr/>
        </p:nvSpPr>
        <p:spPr>
          <a:xfrm>
            <a:off x="4937760" y="3721608"/>
            <a:ext cx="594360" cy="301752"/>
          </a:xfrm>
          <a:prstGeom prst="roundRect">
            <a:avLst>
              <a:gd name="adj" fmla="val 12121"/>
            </a:avLst>
          </a:prstGeom>
          <a:solidFill>
            <a:srgbClr val="E0D050"/>
          </a:solidFill>
          <a:ln w="12700">
            <a:solidFill>
              <a:srgbClr val="E0D050"/>
            </a:solidFill>
            <a:prstDash val="solid"/>
          </a:ln>
        </p:spPr>
        <p:txBody>
          <a:bodyPr/>
          <a:lstStyle/>
          <a:p>
            <a:endParaRPr lang="es-ES"/>
          </a:p>
        </p:txBody>
      </p:sp>
      <p:sp>
        <p:nvSpPr>
          <p:cNvPr id="33" name="Text 31"/>
          <p:cNvSpPr/>
          <p:nvPr/>
        </p:nvSpPr>
        <p:spPr>
          <a:xfrm>
            <a:off x="4937760" y="3721608"/>
            <a:ext cx="594360"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409</a:t>
            </a:r>
            <a:endParaRPr lang="en-US" sz="1000" dirty="0"/>
          </a:p>
        </p:txBody>
      </p:sp>
      <p:sp>
        <p:nvSpPr>
          <p:cNvPr id="34" name="Text 32"/>
          <p:cNvSpPr/>
          <p:nvPr/>
        </p:nvSpPr>
        <p:spPr>
          <a:xfrm>
            <a:off x="5623560" y="3721608"/>
            <a:ext cx="3108960" cy="301752"/>
          </a:xfrm>
          <a:prstGeom prst="rect">
            <a:avLst/>
          </a:prstGeom>
          <a:noFill/>
          <a:ln/>
        </p:spPr>
        <p:txBody>
          <a:bodyPr wrap="square" lIns="0" tIns="0" rIns="0" bIns="0" rtlCol="0" anchor="ctr"/>
          <a:lstStyle/>
          <a:p>
            <a:pPr marL="0" indent="0">
              <a:buNone/>
            </a:pPr>
            <a:r>
              <a:rPr lang="en-US" sz="950" dirty="0">
                <a:solidFill>
                  <a:srgbClr val="8ED99F"/>
                </a:solidFill>
                <a:latin typeface="Calibri" pitchFamily="34" charset="0"/>
                <a:ea typeface="Calibri" pitchFamily="34" charset="-122"/>
                <a:cs typeface="Calibri" pitchFamily="34" charset="-120"/>
              </a:rPr>
              <a:t>Conflict — Email/dato duplicado</a:t>
            </a:r>
            <a:endParaRPr lang="en-US" sz="950" dirty="0"/>
          </a:p>
        </p:txBody>
      </p:sp>
      <p:sp>
        <p:nvSpPr>
          <p:cNvPr id="35" name="Shape 33"/>
          <p:cNvSpPr/>
          <p:nvPr/>
        </p:nvSpPr>
        <p:spPr>
          <a:xfrm>
            <a:off x="4937760" y="4160520"/>
            <a:ext cx="594360" cy="301752"/>
          </a:xfrm>
          <a:prstGeom prst="roundRect">
            <a:avLst>
              <a:gd name="adj" fmla="val 12121"/>
            </a:avLst>
          </a:prstGeom>
          <a:solidFill>
            <a:srgbClr val="CC6666"/>
          </a:solidFill>
          <a:ln w="12700">
            <a:solidFill>
              <a:srgbClr val="CC6666"/>
            </a:solidFill>
            <a:prstDash val="solid"/>
          </a:ln>
        </p:spPr>
        <p:txBody>
          <a:bodyPr/>
          <a:lstStyle/>
          <a:p>
            <a:endParaRPr lang="es-ES"/>
          </a:p>
        </p:txBody>
      </p:sp>
      <p:sp>
        <p:nvSpPr>
          <p:cNvPr id="36" name="Text 34"/>
          <p:cNvSpPr/>
          <p:nvPr/>
        </p:nvSpPr>
        <p:spPr>
          <a:xfrm>
            <a:off x="4937760" y="4160520"/>
            <a:ext cx="594360"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500</a:t>
            </a:r>
            <a:endParaRPr lang="en-US" sz="1000" dirty="0"/>
          </a:p>
        </p:txBody>
      </p:sp>
      <p:sp>
        <p:nvSpPr>
          <p:cNvPr id="37" name="Text 35"/>
          <p:cNvSpPr/>
          <p:nvPr/>
        </p:nvSpPr>
        <p:spPr>
          <a:xfrm>
            <a:off x="5623560" y="4160520"/>
            <a:ext cx="3108960" cy="301752"/>
          </a:xfrm>
          <a:prstGeom prst="rect">
            <a:avLst/>
          </a:prstGeom>
          <a:noFill/>
          <a:ln/>
        </p:spPr>
        <p:txBody>
          <a:bodyPr wrap="square" lIns="0" tIns="0" rIns="0" bIns="0" rtlCol="0" anchor="ctr"/>
          <a:lstStyle/>
          <a:p>
            <a:pPr marL="0" indent="0">
              <a:buNone/>
            </a:pPr>
            <a:r>
              <a:rPr lang="en-US" sz="950" dirty="0">
                <a:solidFill>
                  <a:srgbClr val="8ED99F"/>
                </a:solidFill>
                <a:latin typeface="Calibri" pitchFamily="34" charset="0"/>
                <a:ea typeface="Calibri" pitchFamily="34" charset="-122"/>
                <a:cs typeface="Calibri" pitchFamily="34" charset="-120"/>
              </a:rPr>
              <a:t>Server Error — Error interno, sin exponer stack</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9F4"/>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4CAF65"/>
          </a:solidFill>
          <a:ln w="12700">
            <a:solidFill>
              <a:srgbClr val="4CAF65"/>
            </a:solidFill>
            <a:prstDash val="solid"/>
          </a:ln>
        </p:spPr>
        <p:txBody>
          <a:bodyPr/>
          <a:lstStyle/>
          <a:p>
            <a:endParaRPr lang="es-ES"/>
          </a:p>
        </p:txBody>
      </p:sp>
      <p:sp>
        <p:nvSpPr>
          <p:cNvPr id="3" name="Text 1"/>
          <p:cNvSpPr/>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0D1F0F"/>
                </a:solidFill>
                <a:latin typeface="Georgia" pitchFamily="34" charset="0"/>
                <a:ea typeface="Georgia" pitchFamily="34" charset="-122"/>
                <a:cs typeface="Georgia" pitchFamily="34" charset="-120"/>
              </a:rPr>
              <a:t>Testing &amp; Calidad</a:t>
            </a:r>
            <a:endParaRPr lang="en-US" sz="3200" dirty="0"/>
          </a:p>
        </p:txBody>
      </p:sp>
      <p:sp>
        <p:nvSpPr>
          <p:cNvPr id="4" name="Shape 2"/>
          <p:cNvSpPr/>
          <p:nvPr/>
        </p:nvSpPr>
        <p:spPr>
          <a:xfrm>
            <a:off x="365760" y="1051560"/>
            <a:ext cx="4114800" cy="182880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5" name="Shape 3"/>
          <p:cNvSpPr/>
          <p:nvPr/>
        </p:nvSpPr>
        <p:spPr>
          <a:xfrm>
            <a:off x="365760" y="1051560"/>
            <a:ext cx="109728" cy="1828800"/>
          </a:xfrm>
          <a:prstGeom prst="rect">
            <a:avLst/>
          </a:prstGeom>
          <a:solidFill>
            <a:srgbClr val="2C7A3E"/>
          </a:solidFill>
          <a:ln w="12700">
            <a:solidFill>
              <a:srgbClr val="2C7A3E"/>
            </a:solidFill>
            <a:prstDash val="solid"/>
          </a:ln>
        </p:spPr>
        <p:txBody>
          <a:bodyPr/>
          <a:lstStyle/>
          <a:p>
            <a:endParaRPr lang="es-ES"/>
          </a:p>
        </p:txBody>
      </p:sp>
      <p:sp>
        <p:nvSpPr>
          <p:cNvPr id="6" name="Shape 4"/>
          <p:cNvSpPr/>
          <p:nvPr/>
        </p:nvSpPr>
        <p:spPr>
          <a:xfrm>
            <a:off x="4800600" y="1051560"/>
            <a:ext cx="4114800" cy="182880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7" name="Shape 5"/>
          <p:cNvSpPr/>
          <p:nvPr/>
        </p:nvSpPr>
        <p:spPr>
          <a:xfrm>
            <a:off x="4800600" y="1051560"/>
            <a:ext cx="109728" cy="1828800"/>
          </a:xfrm>
          <a:prstGeom prst="rect">
            <a:avLst/>
          </a:prstGeom>
          <a:solidFill>
            <a:srgbClr val="4CAF65"/>
          </a:solidFill>
          <a:ln w="12700">
            <a:solidFill>
              <a:srgbClr val="4CAF65"/>
            </a:solidFill>
            <a:prstDash val="solid"/>
          </a:ln>
        </p:spPr>
        <p:txBody>
          <a:bodyPr/>
          <a:lstStyle/>
          <a:p>
            <a:endParaRPr lang="es-ES"/>
          </a:p>
        </p:txBody>
      </p:sp>
      <p:sp>
        <p:nvSpPr>
          <p:cNvPr id="8" name="Shape 6"/>
          <p:cNvSpPr/>
          <p:nvPr/>
        </p:nvSpPr>
        <p:spPr>
          <a:xfrm>
            <a:off x="365760" y="3063240"/>
            <a:ext cx="4114800" cy="182880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9" name="Shape 7"/>
          <p:cNvSpPr/>
          <p:nvPr/>
        </p:nvSpPr>
        <p:spPr>
          <a:xfrm>
            <a:off x="365760" y="3063240"/>
            <a:ext cx="109728" cy="1828800"/>
          </a:xfrm>
          <a:prstGeom prst="rect">
            <a:avLst/>
          </a:prstGeom>
          <a:solidFill>
            <a:srgbClr val="5B8DD9"/>
          </a:solidFill>
          <a:ln w="12700">
            <a:solidFill>
              <a:srgbClr val="5B8DD9"/>
            </a:solidFill>
            <a:prstDash val="solid"/>
          </a:ln>
        </p:spPr>
        <p:txBody>
          <a:bodyPr/>
          <a:lstStyle/>
          <a:p>
            <a:endParaRPr lang="es-ES"/>
          </a:p>
        </p:txBody>
      </p:sp>
      <p:sp>
        <p:nvSpPr>
          <p:cNvPr id="10" name="Shape 8"/>
          <p:cNvSpPr/>
          <p:nvPr/>
        </p:nvSpPr>
        <p:spPr>
          <a:xfrm>
            <a:off x="4800600" y="3063240"/>
            <a:ext cx="4114800" cy="1828800"/>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11" name="Shape 9"/>
          <p:cNvSpPr/>
          <p:nvPr/>
        </p:nvSpPr>
        <p:spPr>
          <a:xfrm>
            <a:off x="4800600" y="3063240"/>
            <a:ext cx="109728" cy="1828800"/>
          </a:xfrm>
          <a:prstGeom prst="rect">
            <a:avLst/>
          </a:prstGeom>
          <a:solidFill>
            <a:srgbClr val="0D1F0F"/>
          </a:solidFill>
          <a:ln w="12700">
            <a:solidFill>
              <a:srgbClr val="0D1F0F"/>
            </a:solidFill>
            <a:prstDash val="solid"/>
          </a:ln>
        </p:spPr>
        <p:txBody>
          <a:bodyPr/>
          <a:lstStyle/>
          <a:p>
            <a:endParaRPr lang="es-ES"/>
          </a:p>
        </p:txBody>
      </p:sp>
      <p:pic>
        <p:nvPicPr>
          <p:cNvPr id="12" name="Image 0" descr="preencoded.png"/>
          <p:cNvPicPr>
            <a:picLocks noChangeAspect="1"/>
          </p:cNvPicPr>
          <p:nvPr/>
        </p:nvPicPr>
        <p:blipFill>
          <a:blip r:embed="rId3"/>
          <a:stretch>
            <a:fillRect/>
          </a:stretch>
        </p:blipFill>
        <p:spPr>
          <a:xfrm>
            <a:off x="594360" y="1645920"/>
            <a:ext cx="548640" cy="548640"/>
          </a:xfrm>
          <a:prstGeom prst="rect">
            <a:avLst/>
          </a:prstGeom>
        </p:spPr>
      </p:pic>
      <p:sp>
        <p:nvSpPr>
          <p:cNvPr id="13" name="Text 10"/>
          <p:cNvSpPr/>
          <p:nvPr/>
        </p:nvSpPr>
        <p:spPr>
          <a:xfrm>
            <a:off x="1280160" y="1234440"/>
            <a:ext cx="3063240" cy="457200"/>
          </a:xfrm>
          <a:prstGeom prst="rect">
            <a:avLst/>
          </a:prstGeom>
          <a:noFill/>
          <a:ln/>
        </p:spPr>
        <p:txBody>
          <a:bodyPr wrap="square" lIns="0" tIns="0" rIns="0" bIns="0" rtlCol="0" anchor="ctr"/>
          <a:lstStyle/>
          <a:p>
            <a:pPr marL="0" indent="0">
              <a:buNone/>
            </a:pPr>
            <a:r>
              <a:rPr lang="en-US" sz="1400" b="1" dirty="0">
                <a:solidFill>
                  <a:srgbClr val="0D1F0F"/>
                </a:solidFill>
                <a:latin typeface="Georgia" pitchFamily="34" charset="0"/>
                <a:ea typeface="Georgia" pitchFamily="34" charset="-122"/>
                <a:cs typeface="Georgia" pitchFamily="34" charset="-120"/>
              </a:rPr>
              <a:t>JUnit 5 + MockMvc</a:t>
            </a:r>
            <a:endParaRPr lang="en-US" sz="1400" dirty="0"/>
          </a:p>
        </p:txBody>
      </p:sp>
      <p:sp>
        <p:nvSpPr>
          <p:cNvPr id="14" name="Text 11"/>
          <p:cNvSpPr/>
          <p:nvPr/>
        </p:nvSpPr>
        <p:spPr>
          <a:xfrm>
            <a:off x="1280160" y="1737360"/>
            <a:ext cx="3063240" cy="1005840"/>
          </a:xfrm>
          <a:prstGeom prst="rect">
            <a:avLst/>
          </a:prstGeom>
          <a:noFill/>
          <a:ln/>
        </p:spPr>
        <p:txBody>
          <a:bodyPr wrap="square" lIns="0" tIns="0" rIns="0" bIns="0" rtlCol="0" anchor="ctr"/>
          <a:lstStyle/>
          <a:p>
            <a:pPr marL="0" indent="0">
              <a:buNone/>
            </a:pPr>
            <a:r>
              <a:rPr lang="en-US" sz="1100" dirty="0">
                <a:solidFill>
                  <a:srgbClr val="6B8F71"/>
                </a:solidFill>
                <a:latin typeface="Calibri" pitchFamily="34" charset="0"/>
                <a:ea typeface="Calibri" pitchFamily="34" charset="-122"/>
                <a:cs typeface="Calibri" pitchFamily="34" charset="-120"/>
              </a:rPr>
              <a:t>Tests automáticos con Spring Security Test y BD H2 aislada. Cobertura de flujos críticos.</a:t>
            </a:r>
            <a:endParaRPr lang="en-US" sz="1100" dirty="0"/>
          </a:p>
        </p:txBody>
      </p:sp>
      <p:pic>
        <p:nvPicPr>
          <p:cNvPr id="15" name="Image 1" descr="preencoded.png"/>
          <p:cNvPicPr>
            <a:picLocks noChangeAspect="1"/>
          </p:cNvPicPr>
          <p:nvPr/>
        </p:nvPicPr>
        <p:blipFill>
          <a:blip r:embed="rId4"/>
          <a:stretch>
            <a:fillRect/>
          </a:stretch>
        </p:blipFill>
        <p:spPr>
          <a:xfrm>
            <a:off x="5029200" y="1645920"/>
            <a:ext cx="548640" cy="548640"/>
          </a:xfrm>
          <a:prstGeom prst="rect">
            <a:avLst/>
          </a:prstGeom>
        </p:spPr>
      </p:pic>
      <p:sp>
        <p:nvSpPr>
          <p:cNvPr id="16" name="Text 12"/>
          <p:cNvSpPr/>
          <p:nvPr/>
        </p:nvSpPr>
        <p:spPr>
          <a:xfrm>
            <a:off x="5715000" y="1234440"/>
            <a:ext cx="3063240" cy="457200"/>
          </a:xfrm>
          <a:prstGeom prst="rect">
            <a:avLst/>
          </a:prstGeom>
          <a:noFill/>
          <a:ln/>
        </p:spPr>
        <p:txBody>
          <a:bodyPr wrap="square" lIns="0" tIns="0" rIns="0" bIns="0" rtlCol="0" anchor="ctr"/>
          <a:lstStyle/>
          <a:p>
            <a:pPr marL="0" indent="0">
              <a:buNone/>
            </a:pPr>
            <a:r>
              <a:rPr lang="en-US" sz="1400" b="1" dirty="0">
                <a:solidFill>
                  <a:srgbClr val="0D1F0F"/>
                </a:solidFill>
                <a:latin typeface="Georgia" pitchFamily="34" charset="0"/>
                <a:ea typeface="Georgia" pitchFamily="34" charset="-122"/>
                <a:cs typeface="Georgia" pitchFamily="34" charset="-120"/>
              </a:rPr>
              <a:t>Flujos críticos cubiertos</a:t>
            </a:r>
            <a:endParaRPr lang="en-US" sz="1400" dirty="0"/>
          </a:p>
        </p:txBody>
      </p:sp>
      <p:sp>
        <p:nvSpPr>
          <p:cNvPr id="17" name="Text 13"/>
          <p:cNvSpPr/>
          <p:nvPr/>
        </p:nvSpPr>
        <p:spPr>
          <a:xfrm>
            <a:off x="5715000" y="1737360"/>
            <a:ext cx="3063240" cy="1005840"/>
          </a:xfrm>
          <a:prstGeom prst="rect">
            <a:avLst/>
          </a:prstGeom>
          <a:noFill/>
          <a:ln/>
        </p:spPr>
        <p:txBody>
          <a:bodyPr wrap="square" lIns="0" tIns="0" rIns="0" bIns="0" rtlCol="0" anchor="ctr"/>
          <a:lstStyle/>
          <a:p>
            <a:pPr marL="0" indent="0">
              <a:buNone/>
            </a:pPr>
            <a:r>
              <a:rPr lang="en-US" sz="1100" dirty="0">
                <a:solidFill>
                  <a:srgbClr val="6B8F71"/>
                </a:solidFill>
                <a:latin typeface="Calibri" pitchFamily="34" charset="0"/>
                <a:ea typeface="Calibri" pitchFamily="34" charset="-122"/>
                <a:cs typeface="Calibri" pitchFamily="34" charset="-120"/>
              </a:rPr>
              <a:t>Generación/validación JWT, hash BCrypt, control de acceso por rol, registro y login.</a:t>
            </a:r>
            <a:endParaRPr lang="en-US" sz="1100" dirty="0"/>
          </a:p>
        </p:txBody>
      </p:sp>
      <p:pic>
        <p:nvPicPr>
          <p:cNvPr id="18" name="Image 2" descr="preencoded.png"/>
          <p:cNvPicPr>
            <a:picLocks noChangeAspect="1"/>
          </p:cNvPicPr>
          <p:nvPr/>
        </p:nvPicPr>
        <p:blipFill>
          <a:blip r:embed="rId5"/>
          <a:stretch>
            <a:fillRect/>
          </a:stretch>
        </p:blipFill>
        <p:spPr>
          <a:xfrm>
            <a:off x="594360" y="3657600"/>
            <a:ext cx="548640" cy="548640"/>
          </a:xfrm>
          <a:prstGeom prst="rect">
            <a:avLst/>
          </a:prstGeom>
        </p:spPr>
      </p:pic>
      <p:sp>
        <p:nvSpPr>
          <p:cNvPr id="19" name="Text 14"/>
          <p:cNvSpPr/>
          <p:nvPr/>
        </p:nvSpPr>
        <p:spPr>
          <a:xfrm>
            <a:off x="1280160" y="3246120"/>
            <a:ext cx="3063240" cy="457200"/>
          </a:xfrm>
          <a:prstGeom prst="rect">
            <a:avLst/>
          </a:prstGeom>
          <a:noFill/>
          <a:ln/>
        </p:spPr>
        <p:txBody>
          <a:bodyPr wrap="square" lIns="0" tIns="0" rIns="0" bIns="0" rtlCol="0" anchor="ctr"/>
          <a:lstStyle/>
          <a:p>
            <a:pPr marL="0" indent="0">
              <a:buNone/>
            </a:pPr>
            <a:r>
              <a:rPr lang="en-US" sz="1400" b="1" dirty="0">
                <a:solidFill>
                  <a:srgbClr val="0D1F0F"/>
                </a:solidFill>
                <a:latin typeface="Georgia" pitchFamily="34" charset="0"/>
                <a:ea typeface="Georgia" pitchFamily="34" charset="-122"/>
                <a:cs typeface="Georgia" pitchFamily="34" charset="-120"/>
              </a:rPr>
              <a:t>Postman + Newman CI</a:t>
            </a:r>
            <a:endParaRPr lang="en-US" sz="1400" dirty="0"/>
          </a:p>
        </p:txBody>
      </p:sp>
      <p:sp>
        <p:nvSpPr>
          <p:cNvPr id="20" name="Text 15"/>
          <p:cNvSpPr/>
          <p:nvPr/>
        </p:nvSpPr>
        <p:spPr>
          <a:xfrm>
            <a:off x="1280160" y="3749040"/>
            <a:ext cx="3063240" cy="1005840"/>
          </a:xfrm>
          <a:prstGeom prst="rect">
            <a:avLst/>
          </a:prstGeom>
          <a:noFill/>
          <a:ln/>
        </p:spPr>
        <p:txBody>
          <a:bodyPr wrap="square" lIns="0" tIns="0" rIns="0" bIns="0" rtlCol="0" anchor="ctr"/>
          <a:lstStyle/>
          <a:p>
            <a:pPr marL="0" indent="0">
              <a:buNone/>
            </a:pPr>
            <a:r>
              <a:rPr lang="en-US" sz="1100" dirty="0">
                <a:solidFill>
                  <a:srgbClr val="6B8F71"/>
                </a:solidFill>
                <a:latin typeface="Calibri" pitchFamily="34" charset="0"/>
                <a:ea typeface="Calibri" pitchFamily="34" charset="-122"/>
                <a:cs typeface="Calibri" pitchFamily="34" charset="-120"/>
              </a:rPr>
              <a:t>Tests de integración de la API ejecutados automáticamente en cada Pull Request.</a:t>
            </a:r>
            <a:endParaRPr lang="en-US" sz="1100" dirty="0"/>
          </a:p>
        </p:txBody>
      </p:sp>
      <p:pic>
        <p:nvPicPr>
          <p:cNvPr id="21" name="Image 3" descr="preencoded.png"/>
          <p:cNvPicPr>
            <a:picLocks noChangeAspect="1"/>
          </p:cNvPicPr>
          <p:nvPr/>
        </p:nvPicPr>
        <p:blipFill>
          <a:blip r:embed="rId6"/>
          <a:stretch>
            <a:fillRect/>
          </a:stretch>
        </p:blipFill>
        <p:spPr>
          <a:xfrm>
            <a:off x="5029200" y="3657600"/>
            <a:ext cx="548640" cy="548640"/>
          </a:xfrm>
          <a:prstGeom prst="rect">
            <a:avLst/>
          </a:prstGeom>
        </p:spPr>
      </p:pic>
      <p:sp>
        <p:nvSpPr>
          <p:cNvPr id="22" name="Text 16"/>
          <p:cNvSpPr/>
          <p:nvPr/>
        </p:nvSpPr>
        <p:spPr>
          <a:xfrm>
            <a:off x="5715000" y="3246120"/>
            <a:ext cx="3063240" cy="457200"/>
          </a:xfrm>
          <a:prstGeom prst="rect">
            <a:avLst/>
          </a:prstGeom>
          <a:noFill/>
          <a:ln/>
        </p:spPr>
        <p:txBody>
          <a:bodyPr wrap="square" lIns="0" tIns="0" rIns="0" bIns="0" rtlCol="0" anchor="ctr"/>
          <a:lstStyle/>
          <a:p>
            <a:pPr marL="0" indent="0">
              <a:buNone/>
            </a:pPr>
            <a:r>
              <a:rPr lang="en-US" sz="1400" b="1" dirty="0">
                <a:solidFill>
                  <a:srgbClr val="0D1F0F"/>
                </a:solidFill>
                <a:latin typeface="Georgia" pitchFamily="34" charset="0"/>
                <a:ea typeface="Georgia" pitchFamily="34" charset="-122"/>
                <a:cs typeface="Georgia" pitchFamily="34" charset="-120"/>
              </a:rPr>
              <a:t>Flujo Git estructurado</a:t>
            </a:r>
            <a:endParaRPr lang="en-US" sz="1400" dirty="0"/>
          </a:p>
        </p:txBody>
      </p:sp>
      <p:sp>
        <p:nvSpPr>
          <p:cNvPr id="23" name="Text 17"/>
          <p:cNvSpPr/>
          <p:nvPr/>
        </p:nvSpPr>
        <p:spPr>
          <a:xfrm>
            <a:off x="5715000" y="3749040"/>
            <a:ext cx="3063240" cy="1005840"/>
          </a:xfrm>
          <a:prstGeom prst="rect">
            <a:avLst/>
          </a:prstGeom>
          <a:noFill/>
          <a:ln/>
        </p:spPr>
        <p:txBody>
          <a:bodyPr wrap="square" lIns="0" tIns="0" rIns="0" bIns="0" rtlCol="0" anchor="ctr"/>
          <a:lstStyle/>
          <a:p>
            <a:pPr marL="0" indent="0">
              <a:buNone/>
            </a:pPr>
            <a:r>
              <a:rPr lang="en-US" sz="1100" dirty="0">
                <a:solidFill>
                  <a:srgbClr val="6B8F71"/>
                </a:solidFill>
                <a:latin typeface="Calibri" pitchFamily="34" charset="0"/>
                <a:ea typeface="Calibri" pitchFamily="34" charset="-122"/>
                <a:cs typeface="Calibri" pitchFamily="34" charset="-120"/>
              </a:rPr>
              <a:t>Ramas por funcionalidad → PR revisado → merge a develop. Calidad garantizada.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4F9F4"/>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C7A3E"/>
          </a:solidFill>
          <a:ln w="12700">
            <a:solidFill>
              <a:srgbClr val="2C7A3E"/>
            </a:solidFill>
            <a:prstDash val="solid"/>
          </a:ln>
        </p:spPr>
        <p:txBody>
          <a:bodyPr/>
          <a:lstStyle/>
          <a:p>
            <a:endParaRPr lang="es-ES"/>
          </a:p>
        </p:txBody>
      </p:sp>
      <p:sp>
        <p:nvSpPr>
          <p:cNvPr id="3" name="Text 1"/>
          <p:cNvSpPr/>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0D1F0F"/>
                </a:solidFill>
                <a:latin typeface="Georgia" pitchFamily="34" charset="0"/>
                <a:ea typeface="Georgia" pitchFamily="34" charset="-122"/>
                <a:cs typeface="Georgia" pitchFamily="34" charset="-120"/>
              </a:rPr>
              <a:t>Dashboards por Rol</a:t>
            </a:r>
            <a:endParaRPr lang="en-US" sz="3200" dirty="0"/>
          </a:p>
        </p:txBody>
      </p:sp>
      <p:sp>
        <p:nvSpPr>
          <p:cNvPr id="4" name="Text 2"/>
          <p:cNvSpPr/>
          <p:nvPr/>
        </p:nvSpPr>
        <p:spPr>
          <a:xfrm>
            <a:off x="457200" y="868680"/>
            <a:ext cx="8229600" cy="320040"/>
          </a:xfrm>
          <a:prstGeom prst="rect">
            <a:avLst/>
          </a:prstGeom>
          <a:noFill/>
          <a:ln/>
        </p:spPr>
        <p:txBody>
          <a:bodyPr wrap="square" lIns="0" tIns="0" rIns="0" bIns="0" rtlCol="0" anchor="ctr"/>
          <a:lstStyle/>
          <a:p>
            <a:pPr marL="0" indent="0">
              <a:buNone/>
            </a:pPr>
            <a:r>
              <a:rPr lang="en-US" sz="1300" i="1" dirty="0">
                <a:solidFill>
                  <a:srgbClr val="6B8F71"/>
                </a:solidFill>
                <a:latin typeface="Calibri" pitchFamily="34" charset="0"/>
                <a:ea typeface="Calibri" pitchFamily="34" charset="-122"/>
                <a:cs typeface="Calibri" pitchFamily="34" charset="-120"/>
              </a:rPr>
              <a:t>Tabla interactiva con ordenación, filtros por estado, búsqueda por nombre y rango de fechas</a:t>
            </a:r>
            <a:endParaRPr lang="en-US" sz="1300" dirty="0"/>
          </a:p>
        </p:txBody>
      </p:sp>
      <p:sp>
        <p:nvSpPr>
          <p:cNvPr id="5" name="Shape 3"/>
          <p:cNvSpPr/>
          <p:nvPr/>
        </p:nvSpPr>
        <p:spPr>
          <a:xfrm>
            <a:off x="365760" y="1325880"/>
            <a:ext cx="4114800" cy="548640"/>
          </a:xfrm>
          <a:prstGeom prst="rect">
            <a:avLst/>
          </a:prstGeom>
          <a:solidFill>
            <a:srgbClr val="2C7A3E"/>
          </a:solidFill>
          <a:ln w="12700">
            <a:solidFill>
              <a:srgbClr val="2C7A3E"/>
            </a:solidFill>
            <a:prstDash val="solid"/>
          </a:ln>
        </p:spPr>
        <p:txBody>
          <a:bodyPr/>
          <a:lstStyle/>
          <a:p>
            <a:endParaRPr lang="es-ES"/>
          </a:p>
        </p:txBody>
      </p:sp>
      <p:pic>
        <p:nvPicPr>
          <p:cNvPr id="6" name="Image 0" descr="preencoded.png"/>
          <p:cNvPicPr>
            <a:picLocks noChangeAspect="1"/>
          </p:cNvPicPr>
          <p:nvPr/>
        </p:nvPicPr>
        <p:blipFill>
          <a:blip r:embed="rId3"/>
          <a:stretch>
            <a:fillRect/>
          </a:stretch>
        </p:blipFill>
        <p:spPr>
          <a:xfrm>
            <a:off x="502920" y="1389888"/>
            <a:ext cx="411480" cy="411480"/>
          </a:xfrm>
          <a:prstGeom prst="rect">
            <a:avLst/>
          </a:prstGeom>
        </p:spPr>
      </p:pic>
      <p:sp>
        <p:nvSpPr>
          <p:cNvPr id="7" name="Text 4"/>
          <p:cNvSpPr/>
          <p:nvPr/>
        </p:nvSpPr>
        <p:spPr>
          <a:xfrm>
            <a:off x="1005840" y="1325880"/>
            <a:ext cx="3291840" cy="54864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ADMIN</a:t>
            </a:r>
            <a:endParaRPr lang="en-US" sz="1800" dirty="0"/>
          </a:p>
        </p:txBody>
      </p:sp>
      <p:sp>
        <p:nvSpPr>
          <p:cNvPr id="8" name="Shape 5"/>
          <p:cNvSpPr/>
          <p:nvPr/>
        </p:nvSpPr>
        <p:spPr>
          <a:xfrm>
            <a:off x="365760" y="1993392"/>
            <a:ext cx="4114800" cy="841248"/>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9" name="Shape 6"/>
          <p:cNvSpPr/>
          <p:nvPr/>
        </p:nvSpPr>
        <p:spPr>
          <a:xfrm>
            <a:off x="502920" y="2157984"/>
            <a:ext cx="512064" cy="512064"/>
          </a:xfrm>
          <a:prstGeom prst="ellipse">
            <a:avLst/>
          </a:prstGeom>
          <a:solidFill>
            <a:srgbClr val="2C7A3E"/>
          </a:solidFill>
          <a:ln w="12700">
            <a:solidFill>
              <a:srgbClr val="2C7A3E"/>
            </a:solidFill>
            <a:prstDash val="solid"/>
          </a:ln>
        </p:spPr>
        <p:txBody>
          <a:bodyPr/>
          <a:lstStyle/>
          <a:p>
            <a:endParaRPr lang="es-ES"/>
          </a:p>
        </p:txBody>
      </p:sp>
      <p:sp>
        <p:nvSpPr>
          <p:cNvPr id="10" name="Shape 7"/>
          <p:cNvSpPr/>
          <p:nvPr/>
        </p:nvSpPr>
        <p:spPr>
          <a:xfrm>
            <a:off x="365760" y="2953512"/>
            <a:ext cx="4114800" cy="841248"/>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11" name="Shape 8"/>
          <p:cNvSpPr/>
          <p:nvPr/>
        </p:nvSpPr>
        <p:spPr>
          <a:xfrm>
            <a:off x="502920" y="3118104"/>
            <a:ext cx="512064" cy="512064"/>
          </a:xfrm>
          <a:prstGeom prst="ellipse">
            <a:avLst/>
          </a:prstGeom>
          <a:solidFill>
            <a:srgbClr val="2C7A3E"/>
          </a:solidFill>
          <a:ln w="12700">
            <a:solidFill>
              <a:srgbClr val="2C7A3E"/>
            </a:solidFill>
            <a:prstDash val="solid"/>
          </a:ln>
        </p:spPr>
        <p:txBody>
          <a:bodyPr/>
          <a:lstStyle/>
          <a:p>
            <a:endParaRPr lang="es-ES"/>
          </a:p>
        </p:txBody>
      </p:sp>
      <p:sp>
        <p:nvSpPr>
          <p:cNvPr id="12" name="Shape 9"/>
          <p:cNvSpPr/>
          <p:nvPr/>
        </p:nvSpPr>
        <p:spPr>
          <a:xfrm>
            <a:off x="365760" y="3913632"/>
            <a:ext cx="4114800" cy="841248"/>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13" name="Shape 10"/>
          <p:cNvSpPr/>
          <p:nvPr/>
        </p:nvSpPr>
        <p:spPr>
          <a:xfrm>
            <a:off x="502920" y="4078224"/>
            <a:ext cx="512064" cy="512064"/>
          </a:xfrm>
          <a:prstGeom prst="ellipse">
            <a:avLst/>
          </a:prstGeom>
          <a:solidFill>
            <a:srgbClr val="2C7A3E"/>
          </a:solidFill>
          <a:ln w="12700">
            <a:solidFill>
              <a:srgbClr val="2C7A3E"/>
            </a:solidFill>
            <a:prstDash val="solid"/>
          </a:ln>
        </p:spPr>
        <p:txBody>
          <a:bodyPr/>
          <a:lstStyle/>
          <a:p>
            <a:endParaRPr lang="es-ES"/>
          </a:p>
        </p:txBody>
      </p:sp>
      <p:sp>
        <p:nvSpPr>
          <p:cNvPr id="14" name="Shape 11"/>
          <p:cNvSpPr/>
          <p:nvPr/>
        </p:nvSpPr>
        <p:spPr>
          <a:xfrm>
            <a:off x="4800600" y="1325880"/>
            <a:ext cx="4114800" cy="548640"/>
          </a:xfrm>
          <a:prstGeom prst="rect">
            <a:avLst/>
          </a:prstGeom>
          <a:solidFill>
            <a:srgbClr val="4CAF65"/>
          </a:solidFill>
          <a:ln w="12700">
            <a:solidFill>
              <a:srgbClr val="4CAF65"/>
            </a:solidFill>
            <a:prstDash val="solid"/>
          </a:ln>
        </p:spPr>
        <p:txBody>
          <a:bodyPr/>
          <a:lstStyle/>
          <a:p>
            <a:endParaRPr lang="es-ES"/>
          </a:p>
        </p:txBody>
      </p:sp>
      <p:pic>
        <p:nvPicPr>
          <p:cNvPr id="15" name="Image 1" descr="preencoded.png"/>
          <p:cNvPicPr>
            <a:picLocks noChangeAspect="1"/>
          </p:cNvPicPr>
          <p:nvPr/>
        </p:nvPicPr>
        <p:blipFill>
          <a:blip r:embed="rId4"/>
          <a:stretch>
            <a:fillRect/>
          </a:stretch>
        </p:blipFill>
        <p:spPr>
          <a:xfrm>
            <a:off x="566928" y="2221992"/>
            <a:ext cx="384048" cy="384048"/>
          </a:xfrm>
          <a:prstGeom prst="rect">
            <a:avLst/>
          </a:prstGeom>
        </p:spPr>
      </p:pic>
      <p:sp>
        <p:nvSpPr>
          <p:cNvPr id="16" name="Text 12"/>
          <p:cNvSpPr/>
          <p:nvPr/>
        </p:nvSpPr>
        <p:spPr>
          <a:xfrm>
            <a:off x="1143000" y="2084832"/>
            <a:ext cx="3200400" cy="347472"/>
          </a:xfrm>
          <a:prstGeom prst="rect">
            <a:avLst/>
          </a:prstGeom>
          <a:noFill/>
          <a:ln/>
        </p:spPr>
        <p:txBody>
          <a:bodyPr wrap="square" lIns="0" tIns="0" rIns="0" bIns="0" rtlCol="0" anchor="ctr"/>
          <a:lstStyle/>
          <a:p>
            <a:pPr marL="0" indent="0">
              <a:buNone/>
            </a:pPr>
            <a:r>
              <a:rPr lang="en-US" sz="1300" b="1" dirty="0">
                <a:solidFill>
                  <a:srgbClr val="0D1F0F"/>
                </a:solidFill>
                <a:latin typeface="Georgia" pitchFamily="34" charset="0"/>
                <a:ea typeface="Georgia" pitchFamily="34" charset="-122"/>
                <a:cs typeface="Georgia" pitchFamily="34" charset="-120"/>
              </a:rPr>
              <a:t>Donaciones</a:t>
            </a:r>
            <a:endParaRPr lang="en-US" sz="1300" dirty="0"/>
          </a:p>
        </p:txBody>
      </p:sp>
      <p:sp>
        <p:nvSpPr>
          <p:cNvPr id="17" name="Text 13"/>
          <p:cNvSpPr/>
          <p:nvPr/>
        </p:nvSpPr>
        <p:spPr>
          <a:xfrm>
            <a:off x="1143000" y="2432304"/>
            <a:ext cx="3200400" cy="347472"/>
          </a:xfrm>
          <a:prstGeom prst="rect">
            <a:avLst/>
          </a:prstGeom>
          <a:noFill/>
          <a:ln/>
        </p:spPr>
        <p:txBody>
          <a:bodyPr wrap="square" lIns="0" tIns="0" rIns="0" bIns="0" rtlCol="0" anchor="ctr"/>
          <a:lstStyle/>
          <a:p>
            <a:pPr marL="0" indent="0">
              <a:buNone/>
            </a:pPr>
            <a:r>
              <a:rPr lang="en-US" sz="1050" dirty="0">
                <a:solidFill>
                  <a:srgbClr val="6B8F71"/>
                </a:solidFill>
                <a:latin typeface="Calibri" pitchFamily="34" charset="0"/>
                <a:ea typeface="Calibri" pitchFamily="34" charset="-122"/>
                <a:cs typeface="Calibri" pitchFamily="34" charset="-120"/>
              </a:rPr>
              <a:t>Todas las donaciones del sistema</a:t>
            </a:r>
            <a:endParaRPr lang="en-US" sz="1050" dirty="0"/>
          </a:p>
        </p:txBody>
      </p:sp>
      <p:pic>
        <p:nvPicPr>
          <p:cNvPr id="18" name="Image 2" descr="preencoded.png"/>
          <p:cNvPicPr>
            <a:picLocks noChangeAspect="1"/>
          </p:cNvPicPr>
          <p:nvPr/>
        </p:nvPicPr>
        <p:blipFill>
          <a:blip r:embed="rId5"/>
          <a:stretch>
            <a:fillRect/>
          </a:stretch>
        </p:blipFill>
        <p:spPr>
          <a:xfrm>
            <a:off x="566928" y="3182112"/>
            <a:ext cx="384048" cy="384048"/>
          </a:xfrm>
          <a:prstGeom prst="rect">
            <a:avLst/>
          </a:prstGeom>
        </p:spPr>
      </p:pic>
      <p:sp>
        <p:nvSpPr>
          <p:cNvPr id="19" name="Text 14"/>
          <p:cNvSpPr/>
          <p:nvPr/>
        </p:nvSpPr>
        <p:spPr>
          <a:xfrm>
            <a:off x="1143000" y="3044952"/>
            <a:ext cx="3200400" cy="347472"/>
          </a:xfrm>
          <a:prstGeom prst="rect">
            <a:avLst/>
          </a:prstGeom>
          <a:noFill/>
          <a:ln/>
        </p:spPr>
        <p:txBody>
          <a:bodyPr wrap="square" lIns="0" tIns="0" rIns="0" bIns="0" rtlCol="0" anchor="ctr"/>
          <a:lstStyle/>
          <a:p>
            <a:pPr marL="0" indent="0">
              <a:buNone/>
            </a:pPr>
            <a:r>
              <a:rPr lang="en-US" sz="1300" b="1" dirty="0">
                <a:solidFill>
                  <a:srgbClr val="0D1F0F"/>
                </a:solidFill>
                <a:latin typeface="Georgia" pitchFamily="34" charset="0"/>
                <a:ea typeface="Georgia" pitchFamily="34" charset="-122"/>
                <a:cs typeface="Georgia" pitchFamily="34" charset="-120"/>
              </a:rPr>
              <a:t>Nº Usuarios</a:t>
            </a:r>
            <a:endParaRPr lang="en-US" sz="1300" dirty="0"/>
          </a:p>
        </p:txBody>
      </p:sp>
      <p:sp>
        <p:nvSpPr>
          <p:cNvPr id="20" name="Text 15"/>
          <p:cNvSpPr/>
          <p:nvPr/>
        </p:nvSpPr>
        <p:spPr>
          <a:xfrm>
            <a:off x="1143000" y="3392424"/>
            <a:ext cx="3200400" cy="347472"/>
          </a:xfrm>
          <a:prstGeom prst="rect">
            <a:avLst/>
          </a:prstGeom>
          <a:noFill/>
          <a:ln/>
        </p:spPr>
        <p:txBody>
          <a:bodyPr wrap="square" lIns="0" tIns="0" rIns="0" bIns="0" rtlCol="0" anchor="ctr"/>
          <a:lstStyle/>
          <a:p>
            <a:pPr marL="0" indent="0">
              <a:buNone/>
            </a:pPr>
            <a:r>
              <a:rPr lang="en-US" sz="1050" dirty="0">
                <a:solidFill>
                  <a:srgbClr val="6B8F71"/>
                </a:solidFill>
                <a:latin typeface="Calibri" pitchFamily="34" charset="0"/>
                <a:ea typeface="Calibri" pitchFamily="34" charset="-122"/>
                <a:cs typeface="Calibri" pitchFamily="34" charset="-120"/>
              </a:rPr>
              <a:t>Total de usuarios registrados</a:t>
            </a:r>
            <a:endParaRPr lang="en-US" sz="1050" dirty="0"/>
          </a:p>
        </p:txBody>
      </p:sp>
      <p:pic>
        <p:nvPicPr>
          <p:cNvPr id="21" name="Image 3" descr="preencoded.png"/>
          <p:cNvPicPr>
            <a:picLocks noChangeAspect="1"/>
          </p:cNvPicPr>
          <p:nvPr/>
        </p:nvPicPr>
        <p:blipFill>
          <a:blip r:embed="rId6"/>
          <a:stretch>
            <a:fillRect/>
          </a:stretch>
        </p:blipFill>
        <p:spPr>
          <a:xfrm>
            <a:off x="566928" y="4142232"/>
            <a:ext cx="384048" cy="384048"/>
          </a:xfrm>
          <a:prstGeom prst="rect">
            <a:avLst/>
          </a:prstGeom>
        </p:spPr>
      </p:pic>
      <p:sp>
        <p:nvSpPr>
          <p:cNvPr id="22" name="Text 16"/>
          <p:cNvSpPr/>
          <p:nvPr/>
        </p:nvSpPr>
        <p:spPr>
          <a:xfrm>
            <a:off x="1143000" y="4005072"/>
            <a:ext cx="3200400" cy="347472"/>
          </a:xfrm>
          <a:prstGeom prst="rect">
            <a:avLst/>
          </a:prstGeom>
          <a:noFill/>
          <a:ln/>
        </p:spPr>
        <p:txBody>
          <a:bodyPr wrap="square" lIns="0" tIns="0" rIns="0" bIns="0" rtlCol="0" anchor="ctr"/>
          <a:lstStyle/>
          <a:p>
            <a:pPr marL="0" indent="0">
              <a:buNone/>
            </a:pPr>
            <a:r>
              <a:rPr lang="en-US" sz="1300" b="1" dirty="0">
                <a:solidFill>
                  <a:srgbClr val="0D1F0F"/>
                </a:solidFill>
                <a:latin typeface="Georgia" pitchFamily="34" charset="0"/>
                <a:ea typeface="Georgia" pitchFamily="34" charset="-122"/>
                <a:cs typeface="Georgia" pitchFamily="34" charset="-120"/>
              </a:rPr>
              <a:t>Nº Especies</a:t>
            </a:r>
            <a:endParaRPr lang="en-US" sz="1300" dirty="0"/>
          </a:p>
        </p:txBody>
      </p:sp>
      <p:sp>
        <p:nvSpPr>
          <p:cNvPr id="23" name="Text 17"/>
          <p:cNvSpPr/>
          <p:nvPr/>
        </p:nvSpPr>
        <p:spPr>
          <a:xfrm>
            <a:off x="1143000" y="4352544"/>
            <a:ext cx="3200400" cy="347472"/>
          </a:xfrm>
          <a:prstGeom prst="rect">
            <a:avLst/>
          </a:prstGeom>
          <a:noFill/>
          <a:ln/>
        </p:spPr>
        <p:txBody>
          <a:bodyPr wrap="square" lIns="0" tIns="0" rIns="0" bIns="0" rtlCol="0" anchor="ctr"/>
          <a:lstStyle/>
          <a:p>
            <a:pPr marL="0" indent="0">
              <a:buNone/>
            </a:pPr>
            <a:r>
              <a:rPr lang="en-US" sz="1050" dirty="0">
                <a:solidFill>
                  <a:srgbClr val="6B8F71"/>
                </a:solidFill>
                <a:latin typeface="Calibri" pitchFamily="34" charset="0"/>
                <a:ea typeface="Calibri" pitchFamily="34" charset="-122"/>
                <a:cs typeface="Calibri" pitchFamily="34" charset="-120"/>
              </a:rPr>
              <a:t>Catálogo de especies gestionadas</a:t>
            </a:r>
            <a:endParaRPr lang="en-US" sz="1050" dirty="0"/>
          </a:p>
        </p:txBody>
      </p:sp>
      <p:pic>
        <p:nvPicPr>
          <p:cNvPr id="24" name="Image 4" descr="preencoded.png"/>
          <p:cNvPicPr>
            <a:picLocks noChangeAspect="1"/>
          </p:cNvPicPr>
          <p:nvPr/>
        </p:nvPicPr>
        <p:blipFill>
          <a:blip r:embed="rId7"/>
          <a:stretch>
            <a:fillRect/>
          </a:stretch>
        </p:blipFill>
        <p:spPr>
          <a:xfrm>
            <a:off x="4937760" y="1389888"/>
            <a:ext cx="411480" cy="411480"/>
          </a:xfrm>
          <a:prstGeom prst="rect">
            <a:avLst/>
          </a:prstGeom>
        </p:spPr>
      </p:pic>
      <p:sp>
        <p:nvSpPr>
          <p:cNvPr id="25" name="Text 18"/>
          <p:cNvSpPr/>
          <p:nvPr/>
        </p:nvSpPr>
        <p:spPr>
          <a:xfrm>
            <a:off x="5440680" y="1325880"/>
            <a:ext cx="3291840" cy="54864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USUARIO</a:t>
            </a:r>
            <a:endParaRPr lang="en-US" sz="1800" dirty="0"/>
          </a:p>
        </p:txBody>
      </p:sp>
      <p:sp>
        <p:nvSpPr>
          <p:cNvPr id="26" name="Shape 19"/>
          <p:cNvSpPr/>
          <p:nvPr/>
        </p:nvSpPr>
        <p:spPr>
          <a:xfrm>
            <a:off x="4800600" y="1993392"/>
            <a:ext cx="4114800" cy="841248"/>
          </a:xfrm>
          <a:prstGeom prst="rect">
            <a:avLst/>
          </a:prstGeom>
          <a:solidFill>
            <a:srgbClr val="FFFFFF"/>
          </a:solidFill>
          <a:ln w="12700">
            <a:solidFill>
              <a:srgbClr val="DCF0DF"/>
            </a:solidFill>
            <a:prstDash val="solid"/>
          </a:ln>
          <a:effectLst>
            <a:outerShdw blurRad="101600" dist="25400" dir="8100000" algn="bl" rotWithShape="0">
              <a:srgbClr val="000000">
                <a:alpha val="8000"/>
              </a:srgbClr>
            </a:outerShdw>
          </a:effectLst>
        </p:spPr>
        <p:txBody>
          <a:bodyPr/>
          <a:lstStyle/>
          <a:p>
            <a:endParaRPr lang="es-ES"/>
          </a:p>
        </p:txBody>
      </p:sp>
      <p:sp>
        <p:nvSpPr>
          <p:cNvPr id="29" name="Shape 6">
            <a:extLst>
              <a:ext uri="{FF2B5EF4-FFF2-40B4-BE49-F238E27FC236}">
                <a16:creationId xmlns:a16="http://schemas.microsoft.com/office/drawing/2014/main" id="{3493F763-8125-9CD0-9E1F-9986B90D60CF}"/>
              </a:ext>
            </a:extLst>
          </p:cNvPr>
          <p:cNvSpPr/>
          <p:nvPr/>
        </p:nvSpPr>
        <p:spPr>
          <a:xfrm>
            <a:off x="4928616" y="2157984"/>
            <a:ext cx="512064" cy="512064"/>
          </a:xfrm>
          <a:prstGeom prst="ellipse">
            <a:avLst/>
          </a:prstGeom>
          <a:solidFill>
            <a:srgbClr val="2C7A3E"/>
          </a:solidFill>
          <a:ln w="12700">
            <a:solidFill>
              <a:srgbClr val="2C7A3E"/>
            </a:solidFill>
            <a:prstDash val="solid"/>
          </a:ln>
        </p:spPr>
        <p:txBody>
          <a:bodyPr/>
          <a:lstStyle/>
          <a:p>
            <a:endParaRPr lang="es-ES"/>
          </a:p>
        </p:txBody>
      </p:sp>
      <p:pic>
        <p:nvPicPr>
          <p:cNvPr id="30" name="Image 1" descr="preencoded.png">
            <a:extLst>
              <a:ext uri="{FF2B5EF4-FFF2-40B4-BE49-F238E27FC236}">
                <a16:creationId xmlns:a16="http://schemas.microsoft.com/office/drawing/2014/main" id="{027EBCCE-0BA7-B759-8061-C9F813101266}"/>
              </a:ext>
            </a:extLst>
          </p:cNvPr>
          <p:cNvPicPr>
            <a:picLocks noChangeAspect="1"/>
          </p:cNvPicPr>
          <p:nvPr/>
        </p:nvPicPr>
        <p:blipFill>
          <a:blip r:embed="rId4"/>
          <a:stretch>
            <a:fillRect/>
          </a:stretch>
        </p:blipFill>
        <p:spPr>
          <a:xfrm>
            <a:off x="4992624" y="2212633"/>
            <a:ext cx="384048" cy="384048"/>
          </a:xfrm>
          <a:prstGeom prst="rect">
            <a:avLst/>
          </a:prstGeom>
        </p:spPr>
      </p:pic>
      <p:sp>
        <p:nvSpPr>
          <p:cNvPr id="31" name="Text 12">
            <a:extLst>
              <a:ext uri="{FF2B5EF4-FFF2-40B4-BE49-F238E27FC236}">
                <a16:creationId xmlns:a16="http://schemas.microsoft.com/office/drawing/2014/main" id="{CFE3A91B-863D-2311-8697-291E3576F4DA}"/>
              </a:ext>
            </a:extLst>
          </p:cNvPr>
          <p:cNvSpPr/>
          <p:nvPr/>
        </p:nvSpPr>
        <p:spPr>
          <a:xfrm>
            <a:off x="5634197" y="2084832"/>
            <a:ext cx="3200400" cy="347472"/>
          </a:xfrm>
          <a:prstGeom prst="rect">
            <a:avLst/>
          </a:prstGeom>
          <a:noFill/>
          <a:ln/>
        </p:spPr>
        <p:txBody>
          <a:bodyPr wrap="square" lIns="0" tIns="0" rIns="0" bIns="0" rtlCol="0" anchor="ctr"/>
          <a:lstStyle/>
          <a:p>
            <a:pPr marL="0" indent="0">
              <a:buNone/>
            </a:pPr>
            <a:r>
              <a:rPr lang="en-US" sz="1300" b="1" dirty="0">
                <a:solidFill>
                  <a:srgbClr val="0D1F0F"/>
                </a:solidFill>
                <a:latin typeface="Georgia" pitchFamily="34" charset="0"/>
                <a:ea typeface="Georgia" pitchFamily="34" charset="-122"/>
                <a:cs typeface="Georgia" pitchFamily="34" charset="-120"/>
              </a:rPr>
              <a:t>Donaciones</a:t>
            </a:r>
            <a:endParaRPr lang="en-US" sz="1300" dirty="0"/>
          </a:p>
        </p:txBody>
      </p:sp>
      <p:sp>
        <p:nvSpPr>
          <p:cNvPr id="32" name="Text 13">
            <a:extLst>
              <a:ext uri="{FF2B5EF4-FFF2-40B4-BE49-F238E27FC236}">
                <a16:creationId xmlns:a16="http://schemas.microsoft.com/office/drawing/2014/main" id="{496F425D-6527-F777-B35B-97F13A7487D0}"/>
              </a:ext>
            </a:extLst>
          </p:cNvPr>
          <p:cNvSpPr/>
          <p:nvPr/>
        </p:nvSpPr>
        <p:spPr>
          <a:xfrm>
            <a:off x="5634197" y="2422945"/>
            <a:ext cx="3200400" cy="347472"/>
          </a:xfrm>
          <a:prstGeom prst="rect">
            <a:avLst/>
          </a:prstGeom>
          <a:noFill/>
          <a:ln/>
        </p:spPr>
        <p:txBody>
          <a:bodyPr wrap="square" lIns="0" tIns="0" rIns="0" bIns="0" rtlCol="0" anchor="ctr"/>
          <a:lstStyle/>
          <a:p>
            <a:pPr marL="0" indent="0">
              <a:buNone/>
            </a:pPr>
            <a:r>
              <a:rPr lang="en-US" sz="1050" dirty="0" err="1">
                <a:solidFill>
                  <a:srgbClr val="6B8F71"/>
                </a:solidFill>
                <a:latin typeface="Calibri" pitchFamily="34" charset="0"/>
                <a:ea typeface="Calibri" pitchFamily="34" charset="-122"/>
                <a:cs typeface="Calibri" pitchFamily="34" charset="-120"/>
              </a:rPr>
              <a:t>Todas</a:t>
            </a:r>
            <a:r>
              <a:rPr lang="en-US" sz="1050" dirty="0">
                <a:solidFill>
                  <a:srgbClr val="6B8F71"/>
                </a:solidFill>
                <a:latin typeface="Calibri" pitchFamily="34" charset="0"/>
                <a:ea typeface="Calibri" pitchFamily="34" charset="-122"/>
                <a:cs typeface="Calibri" pitchFamily="34" charset="-120"/>
              </a:rPr>
              <a:t> sus </a:t>
            </a:r>
            <a:r>
              <a:rPr lang="en-US" sz="1050" dirty="0" err="1">
                <a:solidFill>
                  <a:srgbClr val="6B8F71"/>
                </a:solidFill>
                <a:latin typeface="Calibri" pitchFamily="34" charset="0"/>
                <a:ea typeface="Calibri" pitchFamily="34" charset="-122"/>
                <a:cs typeface="Calibri" pitchFamily="34" charset="-120"/>
              </a:rPr>
              <a:t>donaciones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D1F0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Requisitos Completados</a:t>
            </a:r>
            <a:endParaRPr lang="en-US" sz="3200" dirty="0"/>
          </a:p>
        </p:txBody>
      </p:sp>
      <p:sp>
        <p:nvSpPr>
          <p:cNvPr id="3" name="Shape 1"/>
          <p:cNvSpPr/>
          <p:nvPr/>
        </p:nvSpPr>
        <p:spPr>
          <a:xfrm>
            <a:off x="365760" y="1051560"/>
            <a:ext cx="4114800" cy="3840480"/>
          </a:xfrm>
          <a:prstGeom prst="rect">
            <a:avLst/>
          </a:prstGeom>
          <a:solidFill>
            <a:srgbClr val="1A3320"/>
          </a:solidFill>
          <a:ln w="25400">
            <a:solidFill>
              <a:srgbClr val="4CAF65"/>
            </a:solidFill>
            <a:prstDash val="solid"/>
          </a:ln>
        </p:spPr>
        <p:txBody>
          <a:bodyPr/>
          <a:lstStyle/>
          <a:p>
            <a:endParaRPr lang="es-ES"/>
          </a:p>
        </p:txBody>
      </p:sp>
      <p:sp>
        <p:nvSpPr>
          <p:cNvPr id="4" name="Shape 2"/>
          <p:cNvSpPr/>
          <p:nvPr/>
        </p:nvSpPr>
        <p:spPr>
          <a:xfrm>
            <a:off x="365760" y="1051560"/>
            <a:ext cx="4114800" cy="64008"/>
          </a:xfrm>
          <a:prstGeom prst="rect">
            <a:avLst/>
          </a:prstGeom>
          <a:solidFill>
            <a:srgbClr val="4CAF65"/>
          </a:solidFill>
          <a:ln w="12700">
            <a:solidFill>
              <a:srgbClr val="4CAF65"/>
            </a:solidFill>
            <a:prstDash val="solid"/>
          </a:ln>
        </p:spPr>
        <p:txBody>
          <a:bodyPr/>
          <a:lstStyle/>
          <a:p>
            <a:endParaRPr lang="es-ES"/>
          </a:p>
        </p:txBody>
      </p:sp>
      <p:sp>
        <p:nvSpPr>
          <p:cNvPr id="5" name="Text 3"/>
          <p:cNvSpPr/>
          <p:nvPr/>
        </p:nvSpPr>
        <p:spPr>
          <a:xfrm>
            <a:off x="548640" y="1143000"/>
            <a:ext cx="3749040" cy="438912"/>
          </a:xfrm>
          <a:prstGeom prst="rect">
            <a:avLst/>
          </a:prstGeom>
          <a:noFill/>
          <a:ln/>
        </p:spPr>
        <p:txBody>
          <a:bodyPr wrap="square" lIns="0" tIns="0" rIns="0" bIns="0" rtlCol="0" anchor="ctr"/>
          <a:lstStyle/>
          <a:p>
            <a:pPr marL="0" indent="0">
              <a:buNone/>
            </a:pPr>
            <a:r>
              <a:rPr lang="en-US" sz="1600" b="1" dirty="0">
                <a:solidFill>
                  <a:srgbClr val="4CAF65"/>
                </a:solidFill>
                <a:latin typeface="Georgia" pitchFamily="34" charset="0"/>
                <a:ea typeface="Georgia" pitchFamily="34" charset="-122"/>
                <a:cs typeface="Georgia" pitchFamily="34" charset="-120"/>
              </a:rPr>
              <a:t>Obligatorios  (5/5)</a:t>
            </a:r>
            <a:endParaRPr lang="en-US" sz="1600" dirty="0"/>
          </a:p>
        </p:txBody>
      </p:sp>
      <p:pic>
        <p:nvPicPr>
          <p:cNvPr id="6" name="Image 0" descr="preencoded.png"/>
          <p:cNvPicPr>
            <a:picLocks noChangeAspect="1"/>
          </p:cNvPicPr>
          <p:nvPr/>
        </p:nvPicPr>
        <p:blipFill>
          <a:blip r:embed="rId3"/>
          <a:stretch>
            <a:fillRect/>
          </a:stretch>
        </p:blipFill>
        <p:spPr>
          <a:xfrm>
            <a:off x="548640" y="1719072"/>
            <a:ext cx="320040" cy="320040"/>
          </a:xfrm>
          <a:prstGeom prst="rect">
            <a:avLst/>
          </a:prstGeom>
        </p:spPr>
      </p:pic>
      <p:sp>
        <p:nvSpPr>
          <p:cNvPr id="7" name="Text 4"/>
          <p:cNvSpPr/>
          <p:nvPr/>
        </p:nvSpPr>
        <p:spPr>
          <a:xfrm>
            <a:off x="960120" y="1691640"/>
            <a:ext cx="33375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Testing API (Postman + CI)</a:t>
            </a:r>
            <a:endParaRPr lang="en-US" sz="1200" dirty="0"/>
          </a:p>
        </p:txBody>
      </p:sp>
      <p:pic>
        <p:nvPicPr>
          <p:cNvPr id="8" name="Image 1" descr="preencoded.png"/>
          <p:cNvPicPr>
            <a:picLocks noChangeAspect="1"/>
          </p:cNvPicPr>
          <p:nvPr/>
        </p:nvPicPr>
        <p:blipFill>
          <a:blip r:embed="rId3"/>
          <a:stretch>
            <a:fillRect/>
          </a:stretch>
        </p:blipFill>
        <p:spPr>
          <a:xfrm>
            <a:off x="548640" y="2267712"/>
            <a:ext cx="320040" cy="320040"/>
          </a:xfrm>
          <a:prstGeom prst="rect">
            <a:avLst/>
          </a:prstGeom>
        </p:spPr>
      </p:pic>
      <p:sp>
        <p:nvSpPr>
          <p:cNvPr id="9" name="Text 5"/>
          <p:cNvSpPr/>
          <p:nvPr/>
        </p:nvSpPr>
        <p:spPr>
          <a:xfrm>
            <a:off x="960120" y="2240280"/>
            <a:ext cx="33375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Aplicación web (React)</a:t>
            </a:r>
            <a:endParaRPr lang="en-US" sz="1200" dirty="0"/>
          </a:p>
        </p:txBody>
      </p:sp>
      <p:pic>
        <p:nvPicPr>
          <p:cNvPr id="10" name="Image 2" descr="preencoded.png"/>
          <p:cNvPicPr>
            <a:picLocks noChangeAspect="1"/>
          </p:cNvPicPr>
          <p:nvPr/>
        </p:nvPicPr>
        <p:blipFill>
          <a:blip r:embed="rId3"/>
          <a:stretch>
            <a:fillRect/>
          </a:stretch>
        </p:blipFill>
        <p:spPr>
          <a:xfrm>
            <a:off x="548640" y="2816352"/>
            <a:ext cx="320040" cy="320040"/>
          </a:xfrm>
          <a:prstGeom prst="rect">
            <a:avLst/>
          </a:prstGeom>
        </p:spPr>
      </p:pic>
      <p:sp>
        <p:nvSpPr>
          <p:cNvPr id="11" name="Text 6"/>
          <p:cNvSpPr/>
          <p:nvPr/>
        </p:nvSpPr>
        <p:spPr>
          <a:xfrm>
            <a:off x="960120" y="2788920"/>
            <a:ext cx="33375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Autenticación JWT + roles</a:t>
            </a:r>
            <a:endParaRPr lang="en-US" sz="1200" dirty="0"/>
          </a:p>
        </p:txBody>
      </p:sp>
      <p:pic>
        <p:nvPicPr>
          <p:cNvPr id="12" name="Image 3" descr="preencoded.png"/>
          <p:cNvPicPr>
            <a:picLocks noChangeAspect="1"/>
          </p:cNvPicPr>
          <p:nvPr/>
        </p:nvPicPr>
        <p:blipFill>
          <a:blip r:embed="rId3"/>
          <a:stretch>
            <a:fillRect/>
          </a:stretch>
        </p:blipFill>
        <p:spPr>
          <a:xfrm>
            <a:off x="548640" y="3364992"/>
            <a:ext cx="320040" cy="320040"/>
          </a:xfrm>
          <a:prstGeom prst="rect">
            <a:avLst/>
          </a:prstGeom>
        </p:spPr>
      </p:pic>
      <p:sp>
        <p:nvSpPr>
          <p:cNvPr id="13" name="Text 7"/>
          <p:cNvSpPr/>
          <p:nvPr/>
        </p:nvSpPr>
        <p:spPr>
          <a:xfrm>
            <a:off x="960120" y="3337560"/>
            <a:ext cx="33375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Dashboard por rol</a:t>
            </a:r>
            <a:endParaRPr lang="en-US" sz="1200" dirty="0"/>
          </a:p>
        </p:txBody>
      </p:sp>
      <p:pic>
        <p:nvPicPr>
          <p:cNvPr id="14" name="Image 4" descr="preencoded.png"/>
          <p:cNvPicPr>
            <a:picLocks noChangeAspect="1"/>
          </p:cNvPicPr>
          <p:nvPr/>
        </p:nvPicPr>
        <p:blipFill>
          <a:blip r:embed="rId3"/>
          <a:stretch>
            <a:fillRect/>
          </a:stretch>
        </p:blipFill>
        <p:spPr>
          <a:xfrm>
            <a:off x="548640" y="3913632"/>
            <a:ext cx="320040" cy="320040"/>
          </a:xfrm>
          <a:prstGeom prst="rect">
            <a:avLst/>
          </a:prstGeom>
        </p:spPr>
      </p:pic>
      <p:sp>
        <p:nvSpPr>
          <p:cNvPr id="15" name="Text 8"/>
          <p:cNvSpPr/>
          <p:nvPr/>
        </p:nvSpPr>
        <p:spPr>
          <a:xfrm>
            <a:off x="960120" y="3886200"/>
            <a:ext cx="33375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Spring Cloud Config</a:t>
            </a:r>
            <a:endParaRPr lang="en-US" sz="1200" dirty="0"/>
          </a:p>
        </p:txBody>
      </p:sp>
      <p:sp>
        <p:nvSpPr>
          <p:cNvPr id="16" name="Shape 9"/>
          <p:cNvSpPr/>
          <p:nvPr/>
        </p:nvSpPr>
        <p:spPr>
          <a:xfrm>
            <a:off x="4663440" y="1051560"/>
            <a:ext cx="4114800" cy="3840480"/>
          </a:xfrm>
          <a:prstGeom prst="rect">
            <a:avLst/>
          </a:prstGeom>
          <a:solidFill>
            <a:srgbClr val="1A3320"/>
          </a:solidFill>
          <a:ln w="25400">
            <a:solidFill>
              <a:srgbClr val="D4A843"/>
            </a:solidFill>
            <a:prstDash val="solid"/>
          </a:ln>
        </p:spPr>
        <p:txBody>
          <a:bodyPr/>
          <a:lstStyle/>
          <a:p>
            <a:endParaRPr lang="es-ES"/>
          </a:p>
        </p:txBody>
      </p:sp>
      <p:sp>
        <p:nvSpPr>
          <p:cNvPr id="17" name="Shape 10"/>
          <p:cNvSpPr/>
          <p:nvPr/>
        </p:nvSpPr>
        <p:spPr>
          <a:xfrm>
            <a:off x="4663440" y="1051560"/>
            <a:ext cx="4114800" cy="64008"/>
          </a:xfrm>
          <a:prstGeom prst="rect">
            <a:avLst/>
          </a:prstGeom>
          <a:solidFill>
            <a:srgbClr val="D4A843"/>
          </a:solidFill>
          <a:ln w="12700">
            <a:solidFill>
              <a:srgbClr val="D4A843"/>
            </a:solidFill>
            <a:prstDash val="solid"/>
          </a:ln>
        </p:spPr>
        <p:txBody>
          <a:bodyPr/>
          <a:lstStyle/>
          <a:p>
            <a:endParaRPr lang="es-ES"/>
          </a:p>
        </p:txBody>
      </p:sp>
      <p:sp>
        <p:nvSpPr>
          <p:cNvPr id="18" name="Text 11"/>
          <p:cNvSpPr/>
          <p:nvPr/>
        </p:nvSpPr>
        <p:spPr>
          <a:xfrm>
            <a:off x="4846320" y="1143000"/>
            <a:ext cx="3749040" cy="438912"/>
          </a:xfrm>
          <a:prstGeom prst="rect">
            <a:avLst/>
          </a:prstGeom>
          <a:noFill/>
          <a:ln/>
        </p:spPr>
        <p:txBody>
          <a:bodyPr wrap="square" lIns="0" tIns="0" rIns="0" bIns="0" rtlCol="0" anchor="ctr"/>
          <a:lstStyle/>
          <a:p>
            <a:pPr marL="0" indent="0">
              <a:buNone/>
            </a:pPr>
            <a:r>
              <a:rPr lang="en-US" sz="1600" b="1" dirty="0">
                <a:solidFill>
                  <a:srgbClr val="D4A843"/>
                </a:solidFill>
                <a:latin typeface="Georgia" pitchFamily="34" charset="0"/>
                <a:ea typeface="Georgia" pitchFamily="34" charset="-122"/>
                <a:cs typeface="Georgia" pitchFamily="34" charset="-120"/>
              </a:rPr>
              <a:t>Opcionales  (6 completados)</a:t>
            </a:r>
            <a:endParaRPr lang="en-US" sz="1600" dirty="0"/>
          </a:p>
        </p:txBody>
      </p:sp>
      <p:pic>
        <p:nvPicPr>
          <p:cNvPr id="19" name="Image 5" descr="preencoded.png"/>
          <p:cNvPicPr>
            <a:picLocks noChangeAspect="1"/>
          </p:cNvPicPr>
          <p:nvPr/>
        </p:nvPicPr>
        <p:blipFill>
          <a:blip r:embed="rId4"/>
          <a:stretch>
            <a:fillRect/>
          </a:stretch>
        </p:blipFill>
        <p:spPr>
          <a:xfrm>
            <a:off x="4846320" y="1719072"/>
            <a:ext cx="292608" cy="292608"/>
          </a:xfrm>
          <a:prstGeom prst="rect">
            <a:avLst/>
          </a:prstGeom>
        </p:spPr>
      </p:pic>
      <p:sp>
        <p:nvSpPr>
          <p:cNvPr id="20" name="Text 12"/>
          <p:cNvSpPr/>
          <p:nvPr/>
        </p:nvSpPr>
        <p:spPr>
          <a:xfrm>
            <a:off x="5230368" y="1700784"/>
            <a:ext cx="338328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Despliegue AWS</a:t>
            </a:r>
            <a:endParaRPr lang="en-US" sz="1200" dirty="0"/>
          </a:p>
        </p:txBody>
      </p:sp>
      <p:pic>
        <p:nvPicPr>
          <p:cNvPr id="21" name="Image 6" descr="preencoded.png"/>
          <p:cNvPicPr>
            <a:picLocks noChangeAspect="1"/>
          </p:cNvPicPr>
          <p:nvPr/>
        </p:nvPicPr>
        <p:blipFill>
          <a:blip r:embed="rId4"/>
          <a:stretch>
            <a:fillRect/>
          </a:stretch>
        </p:blipFill>
        <p:spPr>
          <a:xfrm>
            <a:off x="4846320" y="2221992"/>
            <a:ext cx="292608" cy="292608"/>
          </a:xfrm>
          <a:prstGeom prst="rect">
            <a:avLst/>
          </a:prstGeom>
        </p:spPr>
      </p:pic>
      <p:sp>
        <p:nvSpPr>
          <p:cNvPr id="22" name="Text 13"/>
          <p:cNvSpPr/>
          <p:nvPr/>
        </p:nvSpPr>
        <p:spPr>
          <a:xfrm>
            <a:off x="5230368" y="2203704"/>
            <a:ext cx="338328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Docker Compose</a:t>
            </a:r>
            <a:endParaRPr lang="en-US" sz="1200" dirty="0"/>
          </a:p>
        </p:txBody>
      </p:sp>
      <p:pic>
        <p:nvPicPr>
          <p:cNvPr id="23" name="Image 7" descr="preencoded.png"/>
          <p:cNvPicPr>
            <a:picLocks noChangeAspect="1"/>
          </p:cNvPicPr>
          <p:nvPr/>
        </p:nvPicPr>
        <p:blipFill>
          <a:blip r:embed="rId4"/>
          <a:stretch>
            <a:fillRect/>
          </a:stretch>
        </p:blipFill>
        <p:spPr>
          <a:xfrm>
            <a:off x="4846320" y="2724912"/>
            <a:ext cx="292608" cy="292608"/>
          </a:xfrm>
          <a:prstGeom prst="rect">
            <a:avLst/>
          </a:prstGeom>
        </p:spPr>
      </p:pic>
      <p:sp>
        <p:nvSpPr>
          <p:cNvPr id="24" name="Text 14"/>
          <p:cNvSpPr/>
          <p:nvPr/>
        </p:nvSpPr>
        <p:spPr>
          <a:xfrm>
            <a:off x="5230368" y="2706624"/>
            <a:ext cx="338328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Colección Postman</a:t>
            </a:r>
            <a:endParaRPr lang="en-US" sz="1200" dirty="0"/>
          </a:p>
        </p:txBody>
      </p:sp>
      <p:pic>
        <p:nvPicPr>
          <p:cNvPr id="25" name="Image 8" descr="preencoded.png"/>
          <p:cNvPicPr>
            <a:picLocks noChangeAspect="1"/>
          </p:cNvPicPr>
          <p:nvPr/>
        </p:nvPicPr>
        <p:blipFill>
          <a:blip r:embed="rId4"/>
          <a:stretch>
            <a:fillRect/>
          </a:stretch>
        </p:blipFill>
        <p:spPr>
          <a:xfrm>
            <a:off x="4846320" y="3227832"/>
            <a:ext cx="292608" cy="292608"/>
          </a:xfrm>
          <a:prstGeom prst="rect">
            <a:avLst/>
          </a:prstGeom>
        </p:spPr>
      </p:pic>
      <p:sp>
        <p:nvSpPr>
          <p:cNvPr id="26" name="Text 15"/>
          <p:cNvSpPr/>
          <p:nvPr/>
        </p:nvSpPr>
        <p:spPr>
          <a:xfrm>
            <a:off x="5230368" y="3209544"/>
            <a:ext cx="338328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OpenAPI 3.0 (Swagger)</a:t>
            </a:r>
            <a:endParaRPr lang="en-US" sz="1200" dirty="0"/>
          </a:p>
        </p:txBody>
      </p:sp>
      <p:pic>
        <p:nvPicPr>
          <p:cNvPr id="27" name="Image 9" descr="preencoded.png"/>
          <p:cNvPicPr>
            <a:picLocks noChangeAspect="1"/>
          </p:cNvPicPr>
          <p:nvPr/>
        </p:nvPicPr>
        <p:blipFill>
          <a:blip r:embed="rId4"/>
          <a:stretch>
            <a:fillRect/>
          </a:stretch>
        </p:blipFill>
        <p:spPr>
          <a:xfrm>
            <a:off x="4846320" y="3730752"/>
            <a:ext cx="292608" cy="292608"/>
          </a:xfrm>
          <a:prstGeom prst="rect">
            <a:avLst/>
          </a:prstGeom>
        </p:spPr>
      </p:pic>
      <p:sp>
        <p:nvSpPr>
          <p:cNvPr id="28" name="Text 16"/>
          <p:cNvSpPr/>
          <p:nvPr/>
        </p:nvSpPr>
        <p:spPr>
          <a:xfrm>
            <a:off x="5230368" y="3712464"/>
            <a:ext cx="338328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Internacionalización ES / EN</a:t>
            </a:r>
            <a:endParaRPr lang="en-US" sz="1200" dirty="0"/>
          </a:p>
        </p:txBody>
      </p:sp>
      <p:pic>
        <p:nvPicPr>
          <p:cNvPr id="29" name="Image 10" descr="preencoded.png"/>
          <p:cNvPicPr>
            <a:picLocks noChangeAspect="1"/>
          </p:cNvPicPr>
          <p:nvPr/>
        </p:nvPicPr>
        <p:blipFill>
          <a:blip r:embed="rId4"/>
          <a:stretch>
            <a:fillRect/>
          </a:stretch>
        </p:blipFill>
        <p:spPr>
          <a:xfrm>
            <a:off x="4846320" y="4233672"/>
            <a:ext cx="292608" cy="292608"/>
          </a:xfrm>
          <a:prstGeom prst="rect">
            <a:avLst/>
          </a:prstGeom>
        </p:spPr>
      </p:pic>
      <p:sp>
        <p:nvSpPr>
          <p:cNvPr id="30" name="Text 17"/>
          <p:cNvSpPr/>
          <p:nvPr/>
        </p:nvSpPr>
        <p:spPr>
          <a:xfrm>
            <a:off x="5230368" y="4215384"/>
            <a:ext cx="338328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Testing II (2 clases del modelo)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1025</Words>
  <Application>Microsoft Macintosh PowerPoint</Application>
  <PresentationFormat>Presentación en pantalla (16:9)</PresentationFormat>
  <Paragraphs>164</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Georgia</vt:lpstr>
      <vt:lpstr>Impact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David Garcia Sesma</cp:lastModifiedBy>
  <cp:revision>3</cp:revision>
  <dcterms:created xsi:type="dcterms:W3CDTF">2026-05-16T11:11:41Z</dcterms:created>
  <dcterms:modified xsi:type="dcterms:W3CDTF">2026-05-16T14:00:40Z</dcterms:modified>
</cp:coreProperties>
</file>